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1e112ef-0ccb-68c8-1220-d75abf5a02b2}">
          <p14:sldIdLst>
            <p14:sldId id="256"/>
            <p14:sldId id="257"/>
            <p14:sldId id="258"/>
            <p14:sldId id="259"/>
            <p14:sldId id="260"/>
          </p14:sldIdLst>
        </p14:section>
        <p14:section name="Using the workbook" id="{779a0aea-e709-d9b0-0cd7-6e16f16eb8e4}">
          <p14:sldIdLst>
            <p14:sldId id="261"/>
            <p14:sldId id="262"/>
            <p14:sldId id="263"/>
          </p14:sldIdLst>
        </p14:section>
        <p14:section name="Model and results" id="{8e5aa5a9-cbe0-492d-83c6-db8381418001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Next steps" id="{f3c6f5e2-4ecd-4a87-dc11-be085dc2b7c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CO2 from fuel combustion incl. power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182.931093290827</c:v>
                </c:pt>
                <c:pt idx="2">
                  <c:v>203.660009188596</c:v>
                </c:pt>
                <c:pt idx="3">
                  <c:v>208.933061192683</c:v>
                </c:pt>
                <c:pt idx="4">
                  <c:v>214.215570068777</c:v>
                </c:pt>
                <c:pt idx="5">
                  <c:v>219.061971602792</c:v>
                </c:pt>
                <c:pt idx="6">
                  <c:v>223.109779371249</c:v>
                </c:pt>
                <c:pt idx="7">
                  <c:v>226.740745461712</c:v>
                </c:pt>
                <c:pt idx="8">
                  <c:v>231.970227509995</c:v>
                </c:pt>
                <c:pt idx="9">
                  <c:v>236.200576552283</c:v>
                </c:pt>
                <c:pt idx="10">
                  <c:v>240.758806971735</c:v>
                </c:pt>
                <c:pt idx="11">
                  <c:v>245.406930808878</c:v>
                </c:pt>
                <c:pt idx="12">
                  <c:v>250.125748379733</c:v>
                </c:pt>
                <c:pt idx="13">
                  <c:v>254.913422655948</c:v>
                </c:pt>
                <c:pt idx="14">
                  <c:v>259.775222656821</c:v>
                </c:pt>
                <c:pt idx="15">
                  <c:v>264.717157377577</c:v>
                </c:pt>
                <c:pt idx="16">
                  <c:v>269.746364164556</c:v>
                </c:pt>
                <c:pt idx="17">
                  <c:v>274.864377055473</c:v>
                </c:pt>
                <c:pt idx="18">
                  <c:v>280.080508126402</c:v>
                </c:pt>
                <c:pt idx="19">
                  <c:v>285.397320723292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182.877639838551</c:v>
                </c:pt>
                <c:pt idx="2">
                  <c:v>203.608495855114</c:v>
                </c:pt>
                <c:pt idx="3">
                  <c:v>208.891571018396</c:v>
                </c:pt>
                <c:pt idx="4">
                  <c:v>214.175252525584</c:v>
                </c:pt>
                <c:pt idx="5">
                  <c:v>207.535231463197</c:v>
                </c:pt>
                <c:pt idx="6">
                  <c:v>204.257143609363</c:v>
                </c:pt>
                <c:pt idx="7">
                  <c:v>212.020305394499</c:v>
                </c:pt>
                <c:pt idx="8">
                  <c:v>215.856707550011</c:v>
                </c:pt>
                <c:pt idx="9">
                  <c:v>219.364505827116</c:v>
                </c:pt>
                <c:pt idx="10">
                  <c:v>223.530347861575</c:v>
                </c:pt>
                <c:pt idx="11">
                  <c:v>227.903185974823</c:v>
                </c:pt>
                <c:pt idx="12">
                  <c:v>232.418003953002</c:v>
                </c:pt>
                <c:pt idx="13">
                  <c:v>236.974695696043</c:v>
                </c:pt>
                <c:pt idx="14">
                  <c:v>241.633739370451</c:v>
                </c:pt>
                <c:pt idx="15">
                  <c:v>246.443268925248</c:v>
                </c:pt>
                <c:pt idx="16">
                  <c:v>251.243254316009</c:v>
                </c:pt>
                <c:pt idx="17">
                  <c:v>256.107023154982</c:v>
                </c:pt>
                <c:pt idx="18">
                  <c:v>260.962275303624</c:v>
                </c:pt>
                <c:pt idx="19">
                  <c:v>265.904173029966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182.747167074433</c:v>
                </c:pt>
                <c:pt idx="2">
                  <c:v>203.482762819244</c:v>
                </c:pt>
                <c:pt idx="3">
                  <c:v>208.789542709426</c:v>
                </c:pt>
                <c:pt idx="4">
                  <c:v>214.07614542702</c:v>
                </c:pt>
                <c:pt idx="5">
                  <c:v>211.678621706276</c:v>
                </c:pt>
                <c:pt idx="6">
                  <c:v>203.523686398844</c:v>
                </c:pt>
                <c:pt idx="7">
                  <c:v>199.079670190015</c:v>
                </c:pt>
                <c:pt idx="8">
                  <c:v>195.159748501118</c:v>
                </c:pt>
                <c:pt idx="9">
                  <c:v>188.539759311345</c:v>
                </c:pt>
                <c:pt idx="10">
                  <c:v>184.89710783538</c:v>
                </c:pt>
                <c:pt idx="11">
                  <c:v>179.926159488572</c:v>
                </c:pt>
                <c:pt idx="12">
                  <c:v>176.352497059893</c:v>
                </c:pt>
                <c:pt idx="13">
                  <c:v>172.454457374066</c:v>
                </c:pt>
                <c:pt idx="14">
                  <c:v>169.387712377305</c:v>
                </c:pt>
                <c:pt idx="15">
                  <c:v>166.099880413672</c:v>
                </c:pt>
                <c:pt idx="16">
                  <c:v>163.529017269782</c:v>
                </c:pt>
                <c:pt idx="17">
                  <c:v>160.596678507586</c:v>
                </c:pt>
                <c:pt idx="18">
                  <c:v>158.428890335078</c:v>
                </c:pt>
                <c:pt idx="19">
                  <c:v>155.649838888002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182.611973881236</c:v>
                </c:pt>
                <c:pt idx="2">
                  <c:v>203.352317603198</c:v>
                </c:pt>
                <c:pt idx="3">
                  <c:v>208.684060426608</c:v>
                </c:pt>
                <c:pt idx="4">
                  <c:v>213.973523826137</c:v>
                </c:pt>
                <c:pt idx="5">
                  <c:v>205.958227835912</c:v>
                </c:pt>
                <c:pt idx="6">
                  <c:v>209.191322262777</c:v>
                </c:pt>
                <c:pt idx="7">
                  <c:v>212.07603864916</c:v>
                </c:pt>
                <c:pt idx="8">
                  <c:v>216.450796581148</c:v>
                </c:pt>
                <c:pt idx="9">
                  <c:v>215.352771303944</c:v>
                </c:pt>
                <c:pt idx="10">
                  <c:v>215.427177545507</c:v>
                </c:pt>
                <c:pt idx="11">
                  <c:v>215.946825265893</c:v>
                </c:pt>
                <c:pt idx="12">
                  <c:v>215.864813125174</c:v>
                </c:pt>
                <c:pt idx="13">
                  <c:v>216.422281309972</c:v>
                </c:pt>
                <c:pt idx="14">
                  <c:v>217.220943788595</c:v>
                </c:pt>
                <c:pt idx="15">
                  <c:v>218.087321763473</c:v>
                </c:pt>
                <c:pt idx="16">
                  <c:v>219.043372737174</c:v>
                </c:pt>
                <c:pt idx="17">
                  <c:v>220.178697228493</c:v>
                </c:pt>
                <c:pt idx="18">
                  <c:v>221.327158396712</c:v>
                </c:pt>
                <c:pt idx="19">
                  <c:v>222.656335709084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Package B: covered CO2 and cap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Covered CO2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108.423138242986</c:v>
                </c:pt>
                <c:pt idx="6">
                  <c:v>108.525483257909</c:v>
                </c:pt>
                <c:pt idx="7">
                  <c:v>108.399559245709</c:v>
                </c:pt>
                <c:pt idx="8">
                  <c:v>110.026764341774</c:v>
                </c:pt>
                <c:pt idx="9">
                  <c:v>106.094748934224</c:v>
                </c:pt>
                <c:pt idx="10">
                  <c:v>103.340583667443</c:v>
                </c:pt>
                <c:pt idx="11">
                  <c:v>100.94491990888</c:v>
                </c:pt>
                <c:pt idx="12">
                  <c:v>97.9118261578938</c:v>
                </c:pt>
                <c:pt idx="13">
                  <c:v>95.4903464183815</c:v>
                </c:pt>
                <c:pt idx="14">
                  <c:v>93.269260957907</c:v>
                </c:pt>
                <c:pt idx="15">
                  <c:v>91.0629319940628</c:v>
                </c:pt>
                <c:pt idx="16">
                  <c:v>88.9362930047094</c:v>
                </c:pt>
                <c:pt idx="17">
                  <c:v>86.9615029342483</c:v>
                </c:pt>
                <c:pt idx="18">
                  <c:v>84.992744956382</c:v>
                </c:pt>
                <c:pt idx="19">
                  <c:v>83.1744347859059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104.348156828597</c:v>
                </c:pt>
                <c:pt idx="6">
                  <c:v>102.774379837682</c:v>
                </c:pt>
                <c:pt idx="7">
                  <c:v>100.940536045787</c:v>
                </c:pt>
                <c:pt idx="8">
                  <c:v>100.7273924227</c:v>
                </c:pt>
                <c:pt idx="9">
                  <c:v>99.536804299535</c:v>
                </c:pt>
                <c:pt idx="10">
                  <c:v>98.5528116723341</c:v>
                </c:pt>
                <c:pt idx="11">
                  <c:v>97.5604712019127</c:v>
                </c:pt>
                <c:pt idx="12">
                  <c:v>96.5418057015725</c:v>
                </c:pt>
                <c:pt idx="13">
                  <c:v>95.4941341433716</c:v>
                </c:pt>
                <c:pt idx="14">
                  <c:v>95.4941341433716</c:v>
                </c:pt>
                <c:pt idx="15">
                  <c:v>95.4941341433716</c:v>
                </c:pt>
                <c:pt idx="16">
                  <c:v>95.4941341433716</c:v>
                </c:pt>
                <c:pt idx="17">
                  <c:v>95.4941341433716</c:v>
                </c:pt>
                <c:pt idx="18">
                  <c:v>95.4941341433716</c:v>
                </c:pt>
                <c:pt idx="19">
                  <c:v>95.4941341433716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Variable renewable share of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0.0764311635864413</c:v>
                </c:pt>
                <c:pt idx="2">
                  <c:v>0.0662106847399743</c:v>
                </c:pt>
                <c:pt idx="3">
                  <c:v>0.0959891021041606</c:v>
                </c:pt>
                <c:pt idx="4">
                  <c:v>0.124427272783918</c:v>
                </c:pt>
                <c:pt idx="5">
                  <c:v>0.153657993371325</c:v>
                </c:pt>
                <c:pt idx="6">
                  <c:v>0.181624475625814</c:v>
                </c:pt>
                <c:pt idx="7">
                  <c:v>0.207834898384353</c:v>
                </c:pt>
                <c:pt idx="8">
                  <c:v>0.229111416458192</c:v>
                </c:pt>
                <c:pt idx="9">
                  <c:v>0.248272671739751</c:v>
                </c:pt>
                <c:pt idx="10">
                  <c:v>0.266462705332272</c:v>
                </c:pt>
                <c:pt idx="11">
                  <c:v>0.28331296753489</c:v>
                </c:pt>
                <c:pt idx="12">
                  <c:v>0.299157305949833</c:v>
                </c:pt>
                <c:pt idx="13">
                  <c:v>0.314085686117369</c:v>
                </c:pt>
                <c:pt idx="14">
                  <c:v>0.328160679965081</c:v>
                </c:pt>
                <c:pt idx="15">
                  <c:v>0.341440124700469</c:v>
                </c:pt>
                <c:pt idx="16">
                  <c:v>0.35398310956238</c:v>
                </c:pt>
                <c:pt idx="17">
                  <c:v>0.365849122013386</c:v>
                </c:pt>
                <c:pt idx="18">
                  <c:v>0.377082006839233</c:v>
                </c:pt>
                <c:pt idx="19">
                  <c:v>0.387728419755597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0.0770556877349764</c:v>
                </c:pt>
                <c:pt idx="2">
                  <c:v>0.0667516599988577</c:v>
                </c:pt>
                <c:pt idx="3">
                  <c:v>0.0964824858341156</c:v>
                </c:pt>
                <c:pt idx="4">
                  <c:v>0.124880997522883</c:v>
                </c:pt>
                <c:pt idx="5">
                  <c:v>0.154080719404674</c:v>
                </c:pt>
                <c:pt idx="6">
                  <c:v>0.194452695916727</c:v>
                </c:pt>
                <c:pt idx="7">
                  <c:v>0.18057240317329</c:v>
                </c:pt>
                <c:pt idx="8">
                  <c:v>0.205076820822493</c:v>
                </c:pt>
                <c:pt idx="9">
                  <c:v>0.227371889215401</c:v>
                </c:pt>
                <c:pt idx="10">
                  <c:v>0.24678540149221</c:v>
                </c:pt>
                <c:pt idx="11">
                  <c:v>0.264467149515521</c:v>
                </c:pt>
                <c:pt idx="12">
                  <c:v>0.281093431584529</c:v>
                </c:pt>
                <c:pt idx="13">
                  <c:v>0.296762736718267</c:v>
                </c:pt>
                <c:pt idx="14">
                  <c:v>0.311485260035813</c:v>
                </c:pt>
                <c:pt idx="15">
                  <c:v>0.325251709035809</c:v>
                </c:pt>
                <c:pt idx="16">
                  <c:v>0.338340542090465</c:v>
                </c:pt>
                <c:pt idx="17">
                  <c:v>0.350768352553781</c:v>
                </c:pt>
                <c:pt idx="18">
                  <c:v>0.362637656686354</c:v>
                </c:pt>
                <c:pt idx="19">
                  <c:v>0.373902937732284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0.0785863551650732</c:v>
                </c:pt>
                <c:pt idx="2">
                  <c:v>0.0680775546199117</c:v>
                </c:pt>
                <c:pt idx="3">
                  <c:v>0.0976922396131377</c:v>
                </c:pt>
                <c:pt idx="4">
                  <c:v>0.125993741710134</c:v>
                </c:pt>
                <c:pt idx="5">
                  <c:v>0.155117794891639</c:v>
                </c:pt>
                <c:pt idx="6">
                  <c:v>0.189328694984967</c:v>
                </c:pt>
                <c:pt idx="7">
                  <c:v>0.189119424137893</c:v>
                </c:pt>
                <c:pt idx="8">
                  <c:v>0.198019125466647</c:v>
                </c:pt>
                <c:pt idx="9">
                  <c:v>0.229072167298955</c:v>
                </c:pt>
                <c:pt idx="10">
                  <c:v>0.246487479049462</c:v>
                </c:pt>
                <c:pt idx="11">
                  <c:v>0.272381861480856</c:v>
                </c:pt>
                <c:pt idx="12">
                  <c:v>0.295606116015765</c:v>
                </c:pt>
                <c:pt idx="13">
                  <c:v>0.316743221041052</c:v>
                </c:pt>
                <c:pt idx="14">
                  <c:v>0.335505124056604</c:v>
                </c:pt>
                <c:pt idx="15">
                  <c:v>0.35258800300738</c:v>
                </c:pt>
                <c:pt idx="16">
                  <c:v>0.367561296739564</c:v>
                </c:pt>
                <c:pt idx="17">
                  <c:v>0.381317693685813</c:v>
                </c:pt>
                <c:pt idx="18">
                  <c:v>0.393218449966668</c:v>
                </c:pt>
                <c:pt idx="19">
                  <c:v>0.40449980218487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0.0801697215644966</c:v>
                </c:pt>
                <c:pt idx="2">
                  <c:v>0.0694508287310738</c:v>
                </c:pt>
                <c:pt idx="3">
                  <c:v>0.0989458142801724</c:v>
                </c:pt>
                <c:pt idx="4">
                  <c:v>0.127148308919138</c:v>
                </c:pt>
                <c:pt idx="5">
                  <c:v>0.156195279803077</c:v>
                </c:pt>
                <c:pt idx="6">
                  <c:v>0.18398403972868</c:v>
                </c:pt>
                <c:pt idx="7">
                  <c:v>0.210008273149868</c:v>
                </c:pt>
                <c:pt idx="8">
                  <c:v>0.231218336931763</c:v>
                </c:pt>
                <c:pt idx="9">
                  <c:v>0.250160059225435</c:v>
                </c:pt>
                <c:pt idx="10">
                  <c:v>0.268234585461289</c:v>
                </c:pt>
                <c:pt idx="11">
                  <c:v>0.284332977192349</c:v>
                </c:pt>
                <c:pt idx="12">
                  <c:v>0.299485589979327</c:v>
                </c:pt>
                <c:pt idx="13">
                  <c:v>0.31388066452987</c:v>
                </c:pt>
                <c:pt idx="14">
                  <c:v>0.327362824458481</c:v>
                </c:pt>
                <c:pt idx="15">
                  <c:v>0.340089761315947</c:v>
                </c:pt>
                <c:pt idx="16">
                  <c:v>0.35222161132829</c:v>
                </c:pt>
                <c:pt idx="17">
                  <c:v>0.363738704042828</c:v>
                </c:pt>
                <c:pt idx="18">
                  <c:v>0.374743216887033</c:v>
                </c:pt>
                <c:pt idx="19">
                  <c:v>0.385207670897248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Egypt road fuel use, baseline (ktoe)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engineer run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25177</c:v>
                </c:pt>
                <c:pt idx="1">
                  <c:v>40398</c:v>
                </c:pt>
                <c:pt idx="2">
                  <c:v>64037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fixes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19783</c:v>
                </c:pt>
                <c:pt idx="1">
                  <c:v>26533</c:v>
                </c:pt>
                <c:pt idx="2">
                  <c:v>33986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GHG emissions excl. LULUCF (Mt CO2e)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401.199575892681</c:v>
                </c:pt>
                <c:pt idx="1">
                  <c:v>387.853829527101</c:v>
                </c:pt>
                <c:pt idx="2">
                  <c:v>416.536511192412</c:v>
                </c:pt>
                <c:pt idx="3">
                  <c:v>428.71063379471</c:v>
                </c:pt>
                <c:pt idx="4">
                  <c:v>438.05930108952</c:v>
                </c:pt>
                <c:pt idx="5">
                  <c:v>447.45767536124</c:v>
                </c:pt>
                <c:pt idx="6">
                  <c:v>456.592405897438</c:v>
                </c:pt>
                <c:pt idx="7">
                  <c:v>465.217464911892</c:v>
                </c:pt>
                <c:pt idx="8">
                  <c:v>475.315053393906</c:v>
                </c:pt>
                <c:pt idx="9">
                  <c:v>484.448504081848</c:v>
                </c:pt>
                <c:pt idx="10">
                  <c:v>493.951264439145</c:v>
                </c:pt>
                <c:pt idx="11">
                  <c:v>503.602188834255</c:v>
                </c:pt>
                <c:pt idx="12">
                  <c:v>513.386515159789</c:v>
                </c:pt>
                <c:pt idx="13">
                  <c:v>523.296361167284</c:v>
                </c:pt>
                <c:pt idx="14">
                  <c:v>533.336094348919</c:v>
                </c:pt>
                <c:pt idx="15">
                  <c:v>543.514386803705</c:v>
                </c:pt>
                <c:pt idx="16">
                  <c:v>553.828825792584</c:v>
                </c:pt>
                <c:pt idx="17">
                  <c:v>564.278716367798</c:v>
                </c:pt>
                <c:pt idx="18">
                  <c:v>574.863766881702</c:v>
                </c:pt>
                <c:pt idx="19">
                  <c:v>585.575405205483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401.199575892681</c:v>
                </c:pt>
                <c:pt idx="1">
                  <c:v>387.800000382225</c:v>
                </c:pt>
                <c:pt idx="2">
                  <c:v>416.484635915936</c:v>
                </c:pt>
                <c:pt idx="3">
                  <c:v>428.668921403635</c:v>
                </c:pt>
                <c:pt idx="4">
                  <c:v>438.018784367216</c:v>
                </c:pt>
                <c:pt idx="5">
                  <c:v>428.168036924671</c:v>
                </c:pt>
                <c:pt idx="6">
                  <c:v>429.574104990072</c:v>
                </c:pt>
                <c:pt idx="7">
                  <c:v>442.108312587532</c:v>
                </c:pt>
                <c:pt idx="8">
                  <c:v>450.467339840261</c:v>
                </c:pt>
                <c:pt idx="9">
                  <c:v>458.596794038224</c:v>
                </c:pt>
                <c:pt idx="10">
                  <c:v>467.394410547351</c:v>
                </c:pt>
                <c:pt idx="11">
                  <c:v>476.504311602072</c:v>
                </c:pt>
                <c:pt idx="12">
                  <c:v>485.825419125783</c:v>
                </c:pt>
                <c:pt idx="13">
                  <c:v>495.233247078357</c:v>
                </c:pt>
                <c:pt idx="14">
                  <c:v>504.803627180857</c:v>
                </c:pt>
                <c:pt idx="15">
                  <c:v>514.604276070623</c:v>
                </c:pt>
                <c:pt idx="16">
                  <c:v>524.416037774199</c:v>
                </c:pt>
                <c:pt idx="17">
                  <c:v>534.326357382686</c:v>
                </c:pt>
                <c:pt idx="18">
                  <c:v>544.232802610793</c:v>
                </c:pt>
                <c:pt idx="19">
                  <c:v>554.244025957685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401.199575892681</c:v>
                </c:pt>
                <c:pt idx="1">
                  <c:v>387.668603365803</c:v>
                </c:pt>
                <c:pt idx="2">
                  <c:v>416.35801242584</c:v>
                </c:pt>
                <c:pt idx="3">
                  <c:v>428.566334000278</c:v>
                </c:pt>
                <c:pt idx="4">
                  <c:v>437.919175409844</c:v>
                </c:pt>
                <c:pt idx="5">
                  <c:v>435.215646242385</c:v>
                </c:pt>
                <c:pt idx="6">
                  <c:v>426.43653427614</c:v>
                </c:pt>
                <c:pt idx="7">
                  <c:v>422.002305301295</c:v>
                </c:pt>
                <c:pt idx="8">
                  <c:v>418.438925707899</c:v>
                </c:pt>
                <c:pt idx="9">
                  <c:v>412.54162142843</c:v>
                </c:pt>
                <c:pt idx="10">
                  <c:v>409.965655376506</c:v>
                </c:pt>
                <c:pt idx="11">
                  <c:v>406.308630219158</c:v>
                </c:pt>
                <c:pt idx="12">
                  <c:v>404.299391996479</c:v>
                </c:pt>
                <c:pt idx="13">
                  <c:v>402.143792159849</c:v>
                </c:pt>
                <c:pt idx="14">
                  <c:v>400.988675010231</c:v>
                </c:pt>
                <c:pt idx="15">
                  <c:v>399.75295279902</c:v>
                </c:pt>
                <c:pt idx="16">
                  <c:v>399.354662718843</c:v>
                </c:pt>
                <c:pt idx="17">
                  <c:v>398.678293993729</c:v>
                </c:pt>
                <c:pt idx="18">
                  <c:v>398.836423892635</c:v>
                </c:pt>
                <c:pt idx="19">
                  <c:v>398.411535543212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401.199575892681</c:v>
                </c:pt>
                <c:pt idx="1">
                  <c:v>387.532455565809</c:v>
                </c:pt>
                <c:pt idx="2">
                  <c:v>416.22664634355</c:v>
                </c:pt>
                <c:pt idx="3">
                  <c:v>428.460279588532</c:v>
                </c:pt>
                <c:pt idx="4">
                  <c:v>437.816038690147</c:v>
                </c:pt>
                <c:pt idx="5">
                  <c:v>426.081186061233</c:v>
                </c:pt>
                <c:pt idx="6">
                  <c:v>433.690363344769</c:v>
                </c:pt>
                <c:pt idx="7">
                  <c:v>440.894647192066</c:v>
                </c:pt>
                <c:pt idx="8">
                  <c:v>449.439212446576</c:v>
                </c:pt>
                <c:pt idx="9">
                  <c:v>452.537159288638</c:v>
                </c:pt>
                <c:pt idx="10">
                  <c:v>456.835390950259</c:v>
                </c:pt>
                <c:pt idx="11">
                  <c:v>461.678862300032</c:v>
                </c:pt>
                <c:pt idx="12">
                  <c:v>465.972258262189</c:v>
                </c:pt>
                <c:pt idx="13">
                  <c:v>470.960347035531</c:v>
                </c:pt>
                <c:pt idx="14">
                  <c:v>476.371003747907</c:v>
                </c:pt>
                <c:pt idx="15">
                  <c:v>481.913081057646</c:v>
                </c:pt>
                <c:pt idx="16">
                  <c:v>487.566646813769</c:v>
                </c:pt>
                <c:pt idx="17">
                  <c:v>493.433864869028</c:v>
                </c:pt>
                <c:pt idx="18">
                  <c:v>499.321046488233</c:v>
                </c:pt>
                <c:pt idx="19">
                  <c:v>505.404903796961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Effect by decile, 2030, carbon price $20 (% of consumption)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effects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-0.0115926756983746</c:v>
                </c:pt>
                <c:pt idx="1">
                  <c:v>-0.0106360534013133</c:v>
                </c:pt>
                <c:pt idx="2">
                  <c:v>-0.0103014797206648</c:v>
                </c:pt>
                <c:pt idx="3">
                  <c:v>-0.00960632508303425</c:v>
                </c:pt>
                <c:pt idx="4">
                  <c:v>-0.0096258547681786</c:v>
                </c:pt>
                <c:pt idx="5">
                  <c:v>-0.009569658000568531</c:v>
                </c:pt>
                <c:pt idx="6">
                  <c:v>-0.00990997095528535</c:v>
                </c:pt>
                <c:pt idx="7">
                  <c:v>-0.010049084911224299</c:v>
                </c:pt>
                <c:pt idx="8">
                  <c:v>-0.00971162541414459</c:v>
                </c:pt>
                <c:pt idx="9">
                  <c:v>-0.0100980175425022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effect after recycling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0.023405540325681602</c:v>
                </c:pt>
                <c:pt idx="1">
                  <c:v>0.0136646055979255</c:v>
                </c:pt>
                <c:pt idx="2">
                  <c:v>0.00499329692972615</c:v>
                </c:pt>
                <c:pt idx="3">
                  <c:v>0.00256118929059376</c:v>
                </c:pt>
                <c:pt idx="4">
                  <c:v>-0.0012623307532978</c:v>
                </c:pt>
                <c:pt idx="5">
                  <c:v>-0.0046190049251631</c:v>
                </c:pt>
                <c:pt idx="6">
                  <c:v>-0.00662867554745017</c:v>
                </c:pt>
                <c:pt idx="7">
                  <c:v>-0.007535026167578101</c:v>
                </c:pt>
                <c:pt idx="8">
                  <c:v>-0.00677790222973549</c:v>
                </c:pt>
                <c:pt idx="9">
                  <c:v>-0.00892158386809769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workbook for the CPAT mitigation chain (policies, prices, power, fuel use, revenues, emissions, GDP) and the distribution module. Generated and checked by AI; every value is recomputed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it: quick start, equations, method notes, every formula listed; the bug register with cell-by-cell fix plans for legacy CPAT; the Python model (Coded CPAT) shares the same codes. v7.2: every prototype code follows the CPAT code protocol (legacy variable names, no model letters, tot for totals, each code once); the v7.1 stems stay as aliases for one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numbers follow legacy CPAT. Equations: Equations.md; every workbook formula: Formulas.md. Section 15 keeps the air-pollutant input table; the co-benefits and transport-externality modules were dropped by the user on 2026-10-20.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register (issues_register.py, make_legacy_fixes.py). The prototype never replicates a legacy bug; it replicates legacy issues and tracks them (NORMS section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Readability, copy-pasteable formulas, fast scenarios, and independent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section is rolled up to its summary row on open; columns B:G and I:K are grouped. Row 5 holds the scenario number (a formula); every input row looks up its value in that ScenarioDefinition column. Two groups ship (v6.6); more by pasting group 2 to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copies each definition into the live column, recalculates, runs the ETS goal seek where needed, and stores the results as values (StoredOutputs, sorted; every lookup by output code). The dashboard reads Live (LiveOutputs) or Stored results; charts show only scenarios with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and sizes measured by the user in Excel 365 (2026-10-22): legacy about 10 s per recalculation, CPAT-AI about 5 s; CPAT-AI about 10 MB as .xlsb, legacy over 21 MB. Why: short formulas, one formula per block, two scenario groups shipped, values stored. v6.6: values stored, OFFSET and COUNTIFS replaced (formulas 568k -&gt; 404k). v7.1: Balances, EnergyCons, Prices_dom, HHSurvey, IO_GTAP, HH_Elast (rows of the country); WEO, GDPRatios, UNPop (all rows). Data workbook: data/workbooks/CPAT_Data_dummy_python.xlsx (dummy values).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scenario results (StoredOutputs). Baseline = no carbon price; Package A = carbon tax to $50 + feebates; Package B = ETS on power and industry + carbon tax elsewhere. Builds store a new ETS at its quick price estimate; the batch macro's goal seek on the cap is tested separately by the user (issue I30).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responds to last year's price; dispatch fills demand from capacity; investment follows a logit on levelised cost within scale-up limits, sized for next year's generation estimated from this year's growth (L67, no circular reference). The power data step on Inputs reproduces legacy Mitigation section 4 with L52-L56 fixed. A carbon price raises the VRE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plan P1-P5 (v5.4, v5.6): every ScenarioDefinition power input is read in the scenario's own column; section 3 sub-table A0 applies them. Defaults keep Egypt's results. Legacy bugs fixed on the way: L107, L108, L114, L118.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computes the engineer road model but the Egypt run uses the elasticity approach. The fixes cut the engineer baseline by about a third by 2035, mainly through the ownership calibration (L27). Further work on the engineer road model was dropped by the user (2026-10-20).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 projects every gas from the GHGs inventory; 14c compares the selected NDC with the scenario (comparison only, no NDC goal seek). Section 16 turns revenue into fiscal space and a GDP effect with the legacy multipliers; the GDP effect enters growth once (legacy bug L24 fixed). The methane fee counts in the fiscal space on the scenario's own activity, as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tab, scenario group 2. Gini change with recycling: -1.54%. Eleven charts on the tab. Method: Methods, chapter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Legacy's results area moved into the scenario sections, as memos or lettered sub-blocks, plus sections 17 and 18. Values from StoredOutputs (scenario 3 = the $20 carbon price of scenario 2). A negative implicit carbon price means fossil fuels are subsidised on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check_quick_report_v8.5.md: PASS. Full check check_report_v8.5.md: Overall: PASS** (sections 0-13 in the full run; section 14 rerun).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CPAT-AI-Mitigation-Prototype-v8.5.xlsm (repository root), the Documentation, Legacy_CPAT_Bugs_v8.5.docx. Also open: the numerical check on the latest legacy file, 465 (U2); ETS goal seek user test (I30). Open items from issues_register.py; I52 and I53 wait for features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CPAT-AI-Mitigation-Prototype v8.5  ·  core deck  ·  screenshots and charts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OVERVIEW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CPAT-AI-Mitigation-Prototype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The CPAT mitigation and distribution modules as a readable Excel workbook, generated and checked by AI.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Plain formulas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37744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Checked by Python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572000" y="43434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5720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163 legacy bugs found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8.5,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7168896" y="1042416"/>
            <a:ext cx="4498848" cy="192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_ai/excel_ai/mitigation/presentation/img/v85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4389120" cy="1814640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7223760" y="304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 section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Mitigation: substantial progress. Distribution: done.</a:t>
            </a:r>
            <a:endParaRPr lang="en-US" sz="3000" dirty="0"/>
          </a:p>
        </p:txBody>
      </p:sp>
      <p:sp>
        <p:nvSpPr>
          <p:cNvPr id="4" name="card-13"/>
          <p:cNvSpPr/>
          <p:nvPr/>
        </p:nvSpPr>
        <p:spPr>
          <a:xfrm>
            <a:off x="548640" y="1371600"/>
            <a:ext cx="3520440" cy="26974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4"/>
          <p:cNvSpPr txBox="1"/>
          <p:nvPr/>
        </p:nvSpPr>
        <p:spPr>
          <a:xfrm>
            <a:off x="7132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Prices, demand by 16 sectors and 8 fuels, power, road transport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Revenues, CO2, other GHGs, GDP effects, carbon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Checked against legacy CPAT and an independent Python recomputation</a:t>
            </a:r>
            <a:endParaRPr lang="en-US" sz="1100" dirty="0"/>
          </a:p>
        </p:txBody>
      </p:sp>
      <p:sp>
        <p:nvSpPr>
          <p:cNvPr id="6" name="card-15"/>
          <p:cNvSpPr/>
          <p:nvPr/>
        </p:nvSpPr>
        <p:spPr>
          <a:xfrm>
            <a:off x="4315968" y="1371600"/>
            <a:ext cx="35204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6"/>
          <p:cNvSpPr txBox="1"/>
          <p:nvPr/>
        </p:nvSpPr>
        <p:spPr>
          <a:xfrm>
            <a:off x="4480560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Household impacts as legacy, by decile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transfers, production-sector prices,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 31 legacy distribution bugs fixed</a:t>
            </a:r>
            <a:endParaRPr lang="en-US" sz="1100" dirty="0"/>
          </a:p>
        </p:txBody>
      </p:sp>
      <p:sp>
        <p:nvSpPr>
          <p:cNvPr id="8" name="card-17"/>
          <p:cNvSpPr/>
          <p:nvPr/>
        </p:nvSpPr>
        <p:spPr>
          <a:xfrm>
            <a:off x="8092440" y="1371600"/>
            <a:ext cx="3520440" cy="2697480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9" name="cardText-18"/>
          <p:cNvSpPr txBox="1"/>
          <p:nvPr/>
        </p:nvSpPr>
        <p:spPr>
          <a:xfrm>
            <a:off x="82570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SINCE v6.3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Ships with its values: opens without recalculating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Dashboard: Live or Stored results, key table,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9 data tabs linked to the data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Codes on the CPAT code protocol (v7.2)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Every result checked again in a full check</a:t>
            </a:r>
            <a:endParaRPr lang="en-US" sz="1100" dirty="0"/>
          </a:p>
        </p:txBody>
      </p:sp>
      <p:sp>
        <p:nvSpPr>
          <p:cNvPr id="10" name="stat-19"/>
          <p:cNvSpPr txBox="1"/>
          <p:nvPr/>
        </p:nvSpPr>
        <p:spPr>
          <a:xfrm>
            <a:off x="5486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 (132 mitigation, 31 distribution), none replicated</a:t>
            </a:r>
            <a:endParaRPr lang="en-US" sz="4000" dirty="0"/>
          </a:p>
        </p:txBody>
      </p:sp>
      <p:sp>
        <p:nvSpPr>
          <p:cNvPr id="11" name="stat-20"/>
          <p:cNvSpPr txBox="1"/>
          <p:nvPr/>
        </p:nvSpPr>
        <p:spPr>
          <a:xfrm>
            <a:off x="4315968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issues (57 mitigation, 10 distribution), replicated and tracked</a:t>
            </a:r>
            <a:endParaRPr lang="en-US" sz="4000" dirty="0"/>
          </a:p>
        </p:txBody>
      </p:sp>
      <p:sp>
        <p:nvSpPr>
          <p:cNvPr id="12" name="stat-21"/>
          <p:cNvSpPr txBox="1"/>
          <p:nvPr/>
        </p:nvSpPr>
        <p:spPr>
          <a:xfrm>
            <a:off x="80924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codes, checked against an independent Python recomputation</a:t>
            </a:r>
            <a:endParaRPr lang="en-US" sz="4000" dirty="0"/>
          </a:p>
        </p:txBody>
      </p:sp>
      <p:sp>
        <p:nvSpPr>
          <p:cNvPr id="13" name="caption-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CPAT-AI repo, release 8.5 and the bug and issue register (Legacy_CPAT_Bugs_v8.5.docx).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tabs follow the CPAT mitigation and distribution chain</a:t>
            </a:r>
            <a:endParaRPr lang="en-US" sz="3000" dirty="0"/>
          </a:p>
        </p:txBody>
      </p:sp>
      <p:sp>
        <p:nvSpPr>
          <p:cNvPr id="4" name="flow-23"/>
          <p:cNvSpPr/>
          <p:nvPr/>
        </p:nvSpPr>
        <p:spPr>
          <a:xfrm>
            <a:off x="54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24"/>
          <p:cNvSpPr txBox="1"/>
          <p:nvPr/>
        </p:nvSpPr>
        <p:spPr>
          <a:xfrm>
            <a:off x="54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6" name="flowArrow-25"/>
          <p:cNvSpPr/>
          <p:nvPr/>
        </p:nvSpPr>
        <p:spPr>
          <a:xfrm>
            <a:off x="215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26"/>
          <p:cNvSpPr/>
          <p:nvPr/>
        </p:nvSpPr>
        <p:spPr>
          <a:xfrm>
            <a:off x="245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27"/>
          <p:cNvSpPr txBox="1"/>
          <p:nvPr/>
        </p:nvSpPr>
        <p:spPr>
          <a:xfrm>
            <a:off x="245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Prices</a:t>
            </a:r>
            <a:endParaRPr lang="en-US" sz="1400" dirty="0"/>
          </a:p>
        </p:txBody>
      </p:sp>
      <p:sp>
        <p:nvSpPr>
          <p:cNvPr id="9" name="flowArrow-28"/>
          <p:cNvSpPr/>
          <p:nvPr/>
        </p:nvSpPr>
        <p:spPr>
          <a:xfrm>
            <a:off x="405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29"/>
          <p:cNvSpPr/>
          <p:nvPr/>
        </p:nvSpPr>
        <p:spPr>
          <a:xfrm>
            <a:off x="435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30"/>
          <p:cNvSpPr txBox="1"/>
          <p:nvPr/>
        </p:nvSpPr>
        <p:spPr>
          <a:xfrm>
            <a:off x="435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Power</a:t>
            </a:r>
            <a:endParaRPr lang="en-US" sz="1400" dirty="0"/>
          </a:p>
        </p:txBody>
      </p:sp>
      <p:sp>
        <p:nvSpPr>
          <p:cNvPr id="12" name="flowArrow-31"/>
          <p:cNvSpPr/>
          <p:nvPr/>
        </p:nvSpPr>
        <p:spPr>
          <a:xfrm>
            <a:off x="596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32"/>
          <p:cNvSpPr/>
          <p:nvPr/>
        </p:nvSpPr>
        <p:spPr>
          <a:xfrm>
            <a:off x="626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33"/>
          <p:cNvSpPr txBox="1"/>
          <p:nvPr/>
        </p:nvSpPr>
        <p:spPr>
          <a:xfrm>
            <a:off x="626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15" name="flowArrow-34"/>
          <p:cNvSpPr/>
          <p:nvPr/>
        </p:nvSpPr>
        <p:spPr>
          <a:xfrm>
            <a:off x="786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35"/>
          <p:cNvSpPr/>
          <p:nvPr/>
        </p:nvSpPr>
        <p:spPr>
          <a:xfrm>
            <a:off x="816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36"/>
          <p:cNvSpPr txBox="1"/>
          <p:nvPr/>
        </p:nvSpPr>
        <p:spPr>
          <a:xfrm>
            <a:off x="816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11-13. Energy, revenue, CO2</a:t>
            </a:r>
            <a:endParaRPr lang="en-US" sz="1400" dirty="0"/>
          </a:p>
        </p:txBody>
      </p:sp>
      <p:sp>
        <p:nvSpPr>
          <p:cNvPr id="18" name="flowArrow-37"/>
          <p:cNvSpPr/>
          <p:nvPr/>
        </p:nvSpPr>
        <p:spPr>
          <a:xfrm>
            <a:off x="977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38"/>
          <p:cNvSpPr/>
          <p:nvPr/>
        </p:nvSpPr>
        <p:spPr>
          <a:xfrm>
            <a:off x="1007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39"/>
          <p:cNvSpPr txBox="1"/>
          <p:nvPr/>
        </p:nvSpPr>
        <p:spPr>
          <a:xfrm>
            <a:off x="1007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14-18. GHGs, GDP, welfare</a:t>
            </a:r>
            <a:endParaRPr lang="en-US" sz="1400" dirty="0"/>
          </a:p>
        </p:txBody>
      </p:sp>
      <p:sp>
        <p:nvSpPr>
          <p:cNvPr id="21" name="badge-4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badgeText-41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item-42"/>
          <p:cNvSpPr txBox="1"/>
          <p:nvPr/>
        </p:nvSpPr>
        <p:spPr>
          <a:xfrm>
            <a:off x="10972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Policies and prices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Carbon tax, ETS with a cap, feebates, excises, subsidy phase-outs, producer subsidy reform, methane fee, regulations, existing carbon pricing.</a:t>
            </a:r>
            <a:endParaRPr lang="en-US" sz="1500" dirty="0"/>
          </a:p>
        </p:txBody>
      </p:sp>
      <p:sp>
        <p:nvSpPr>
          <p:cNvPr id="24" name="badge-43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5" name="badgeText-44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item-45"/>
          <p:cNvSpPr txBox="1"/>
          <p:nvPr/>
        </p:nvSpPr>
        <p:spPr>
          <a:xfrm>
            <a:off x="10972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Power and fuel use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legacy power model with its engineer options; 16 sectors × 9 fuels; an optional engineer road model.</a:t>
            </a:r>
            <a:endParaRPr lang="en-US" sz="1500" dirty="0"/>
          </a:p>
        </p:txBody>
      </p:sp>
      <p:sp>
        <p:nvSpPr>
          <p:cNvPr id="27" name="badge-46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8" name="badgeText-47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item-48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Results to 2041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Fuel use, revenue by policy, CO2, GHGs with methane, NDC comparison, GDP effects, welfare; distribution by decile.</a:t>
            </a:r>
            <a:endParaRPr lang="en-US" sz="1500" dirty="0"/>
          </a:p>
        </p:txBody>
      </p:sp>
      <p:sp>
        <p:nvSpPr>
          <p:cNvPr id="30" name="card-49"/>
          <p:cNvSpPr/>
          <p:nvPr/>
        </p:nvSpPr>
        <p:spPr>
          <a:xfrm>
            <a:off x="6492240" y="2468880"/>
            <a:ext cx="5120640" cy="32461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cardText-50"/>
          <p:cNvSpPr txBox="1"/>
          <p:nvPr/>
        </p:nvSpPr>
        <p:spPr>
          <a:xfrm>
            <a:off x="6656832" y="257860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Egypt data, 2022-2041; legacy data tabs paste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Any number of scenarios, run by one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Distribution tab: one year, deciles across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The model in equations; every formula listed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IN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Air-pollution co-benefits module (dropped)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Transport externalities module (dropped)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· FIXES NEEDED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 bugs found in legacy CPAT; 9 change today's results</a:t>
            </a:r>
            <a:endParaRPr lang="en-US" sz="3000" dirty="0"/>
          </a:p>
        </p:txBody>
      </p:sp>
      <p:graphicFrame>
        <p:nvGraphicFramePr>
          <p:cNvPr id="5" name="bug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High-priority bug and its effect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Services electricity demand follows the industry multiple: the largest single power-demand error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Income factor applied twice: the GDP elasticity drifts, error growing to 2040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Other oil products priced at the 0.01 floor: their fuel use rises tenfold by 2030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Non-energy methane flat: a methane fee on farming and waste does nothing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CO2 from flaring booked as methane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Population 185 million in 2041 instead of 147 million (UN)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GDP effect added to growth every year: +0.5% compounds to about +10% of GDP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L53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Actual capacity factors never used: the studies value always applies, the override bounds never act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L87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Regulation scenarios (energy efficiency, feebates, fuel economy) have no effect: share fixed at 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-52"/>
          <p:cNvSpPr txBox="1"/>
          <p:nvPr/>
        </p:nvSpPr>
        <p:spPr>
          <a:xfrm>
            <a:off x="8778240" y="14173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high: wrong results in standard runs</a:t>
            </a:r>
            <a:endParaRPr lang="en-US" sz="4000" dirty="0"/>
          </a:p>
        </p:txBody>
      </p:sp>
      <p:sp>
        <p:nvSpPr>
          <p:cNvPr id="6" name="stat-53"/>
          <p:cNvSpPr txBox="1"/>
          <p:nvPr/>
        </p:nvSpPr>
        <p:spPr>
          <a:xfrm>
            <a:off x="87782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medium: some runs or countries, or a reported number</a:t>
            </a:r>
            <a:endParaRPr lang="en-US" sz="4000" dirty="0"/>
          </a:p>
        </p:txBody>
      </p:sp>
      <p:sp>
        <p:nvSpPr>
          <p:cNvPr id="7" name="stat-54"/>
          <p:cNvSpPr txBox="1"/>
          <p:nvPr/>
        </p:nvSpPr>
        <p:spPr>
          <a:xfrm>
            <a:off x="877824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6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+ 31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 low (latent or reporting) + distribution</a:t>
            </a:r>
            <a:endParaRPr lang="en-US" sz="4000" dirty="0"/>
          </a:p>
        </p:txBody>
      </p:sp>
      <p:sp>
        <p:nvSpPr>
          <p:cNvPr id="8" name="caption-5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132 mitigation and 31 distribution bugs, all fixed in the prototype; also 67 legacy issues (57 mitigation, 10 distribution), replicated and tracked. Fix plans: Legacy_CPAT_Bugs_v8.5.docx. Legacy CPAT 1.0pre_465: the CPAT team marked 62 fixed (52 confirmed, 8 with caveats, 2 not fixed).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56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57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prototype</a:t>
            </a:r>
            <a:endParaRPr lang="en-US" sz="1100" dirty="0"/>
          </a:p>
        </p:txBody>
      </p:sp>
      <p:sp>
        <p:nvSpPr>
          <p:cNvPr id="6" name="problem-58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59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Hard to read: long formulas, many tabs</a:t>
            </a:r>
            <a:endParaRPr lang="en-US" sz="1600" dirty="0"/>
          </a:p>
        </p:txBody>
      </p:sp>
      <p:sp>
        <p:nvSpPr>
          <p:cNvPr id="8" name="arrow-60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61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62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Numbered sections, rolled up; every formula at most 100 characters</a:t>
            </a:r>
            <a:endParaRPr lang="en-US" sz="1600" dirty="0"/>
          </a:p>
        </p:txBody>
      </p:sp>
      <p:sp>
        <p:nvSpPr>
          <p:cNvPr id="11" name="problem-63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64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Formulas differ from row to row</a:t>
            </a:r>
            <a:endParaRPr lang="en-US" sz="1600" dirty="0"/>
          </a:p>
        </p:txBody>
      </p:sp>
      <p:sp>
        <p:nvSpPr>
          <p:cNvPr id="13" name="arrow-65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66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67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One formula per block: copy, drag or paste it anywhere in the block</a:t>
            </a:r>
            <a:endParaRPr lang="en-US" sz="1600" dirty="0"/>
          </a:p>
        </p:txBody>
      </p:sp>
      <p:sp>
        <p:nvSpPr>
          <p:cNvPr id="16" name="problem-68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69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New scenarios are slow to build</a:t>
            </a:r>
            <a:endParaRPr lang="en-US" sz="1600" dirty="0"/>
          </a:p>
        </p:txBody>
      </p:sp>
      <p:sp>
        <p:nvSpPr>
          <p:cNvPr id="18" name="arrow-70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71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72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Paste a scenario block, or list scenarios in ScenarioDefinition and run one macro</a:t>
            </a:r>
            <a:endParaRPr lang="en-US" sz="1600" dirty="0"/>
          </a:p>
        </p:txBody>
      </p:sp>
      <p:sp>
        <p:nvSpPr>
          <p:cNvPr id="21" name="problem-73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74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Results are hard to verify</a:t>
            </a:r>
            <a:endParaRPr lang="en-US" sz="1600" dirty="0"/>
          </a:p>
        </p:txBody>
      </p:sp>
      <p:sp>
        <p:nvSpPr>
          <p:cNvPr id="23" name="arrow-75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76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77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Every value recomputed in Python; legacy bugs found, fixed and listed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LAYOUT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across, scenarios side by side, one formula per block</a:t>
            </a:r>
            <a:endParaRPr lang="en-US" sz="3000" dirty="0"/>
          </a:p>
        </p:txBody>
      </p:sp>
      <p:sp>
        <p:nvSpPr>
          <p:cNvPr id="4" name="frame-78"/>
          <p:cNvSpPr/>
          <p:nvPr/>
        </p:nvSpPr>
        <p:spPr>
          <a:xfrm>
            <a:off x="493776" y="1316736"/>
            <a:ext cx="11173968" cy="1797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9" descr="/home/user/cpat_ai/excel_ai/mitigation/presentation/img/v85_01b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687287"/>
          </a:xfrm>
          <a:prstGeom prst="rect">
            <a:avLst/>
          </a:prstGeom>
        </p:spPr>
      </p:pic>
      <p:sp>
        <p:nvSpPr>
          <p:cNvPr id="6" name="caption-80"/>
          <p:cNvSpPr txBox="1"/>
          <p:nvPr/>
        </p:nvSpPr>
        <p:spPr>
          <a:xfrm>
            <a:off x="548640" y="3168615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the years to 2041, a blank column.</a:t>
            </a:r>
            <a:endParaRPr lang="en-US" sz="1200" dirty="0"/>
          </a:p>
        </p:txBody>
      </p:sp>
      <p:sp>
        <p:nvSpPr>
          <p:cNvPr id="7" name="card-81"/>
          <p:cNvSpPr/>
          <p:nvPr/>
        </p:nvSpPr>
        <p:spPr>
          <a:xfrm>
            <a:off x="548640" y="3607527"/>
            <a:ext cx="35204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82"/>
          <p:cNvSpPr txBox="1"/>
          <p:nvPr/>
        </p:nvSpPr>
        <p:spPr>
          <a:xfrm>
            <a:off x="7132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Paste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Paste a block of columns to the right: it numbers itself and runs the next ScenarioDefinition column.</a:t>
            </a:r>
            <a:endParaRPr lang="en-US" sz="1500" dirty="0"/>
          </a:p>
        </p:txBody>
      </p:sp>
      <p:sp>
        <p:nvSpPr>
          <p:cNvPr id="9" name="card-83"/>
          <p:cNvSpPr/>
          <p:nvPr/>
        </p:nvSpPr>
        <p:spPr>
          <a:xfrm>
            <a:off x="4315968" y="3607527"/>
            <a:ext cx="3520440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cardText-84"/>
          <p:cNvSpPr txBox="1"/>
          <p:nvPr/>
        </p:nvSpPr>
        <p:spPr>
          <a:xfrm>
            <a:off x="4480560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One formula, at most 100 characters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The same formula in every row of a block; all 408,711 formulas are short.</a:t>
            </a:r>
            <a:endParaRPr lang="en-US" sz="1500" dirty="0"/>
          </a:p>
        </p:txBody>
      </p:sp>
      <p:sp>
        <p:nvSpPr>
          <p:cNvPr id="11" name="card-85"/>
          <p:cNvSpPr/>
          <p:nvPr/>
        </p:nvSpPr>
        <p:spPr>
          <a:xfrm>
            <a:off x="8092440" y="3607527"/>
            <a:ext cx="3520440" cy="137160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12" name="cardText-86"/>
          <p:cNvSpPr txBox="1"/>
          <p:nvPr/>
        </p:nvSpPr>
        <p:spPr>
          <a:xfrm>
            <a:off x="82570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LAMBDAs in the live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Group 1 (baseline) holds plain formulas; group 2 (the live scenario) calls the named LAMBDAs.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MANY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scenarios, run one macro, compare</a:t>
            </a:r>
            <a:endParaRPr lang="en-US" sz="3000" dirty="0"/>
          </a:p>
        </p:txBody>
      </p:sp>
      <p:sp>
        <p:nvSpPr>
          <p:cNvPr id="4" name="flow-87"/>
          <p:cNvSpPr/>
          <p:nvPr/>
        </p:nvSpPr>
        <p:spPr>
          <a:xfrm>
            <a:off x="548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flowText-88"/>
          <p:cNvSpPr txBox="1"/>
          <p:nvPr/>
        </p:nvSpPr>
        <p:spPr>
          <a:xfrm>
            <a:off x="548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Define in ScenarioDefinition</a:t>
            </a:r>
            <a:endParaRPr lang="en-US" sz="1400" dirty="0"/>
          </a:p>
        </p:txBody>
      </p:sp>
      <p:sp>
        <p:nvSpPr>
          <p:cNvPr id="6" name="flowArrow-89"/>
          <p:cNvSpPr/>
          <p:nvPr/>
        </p:nvSpPr>
        <p:spPr>
          <a:xfrm>
            <a:off x="3104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90"/>
          <p:cNvSpPr/>
          <p:nvPr/>
        </p:nvSpPr>
        <p:spPr>
          <a:xfrm>
            <a:off x="3406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flowText-91"/>
          <p:cNvSpPr txBox="1"/>
          <p:nvPr/>
        </p:nvSpPr>
        <p:spPr>
          <a:xfrm>
            <a:off x="3406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stored scenarios</a:t>
            </a:r>
            <a:endParaRPr lang="en-US" sz="1400" dirty="0"/>
          </a:p>
        </p:txBody>
      </p:sp>
      <p:sp>
        <p:nvSpPr>
          <p:cNvPr id="9" name="flowArrow-92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93"/>
          <p:cNvSpPr/>
          <p:nvPr/>
        </p:nvSpPr>
        <p:spPr>
          <a:xfrm>
            <a:off x="6263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flowText-94"/>
          <p:cNvSpPr txBox="1"/>
          <p:nvPr/>
        </p:nvSpPr>
        <p:spPr>
          <a:xfrm>
            <a:off x="6263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StoredOutputs</a:t>
            </a:r>
            <a:endParaRPr lang="en-US" sz="1400" dirty="0"/>
          </a:p>
        </p:txBody>
      </p:sp>
      <p:sp>
        <p:nvSpPr>
          <p:cNvPr id="12" name="flowArrow-95"/>
          <p:cNvSpPr/>
          <p:nvPr/>
        </p:nvSpPr>
        <p:spPr>
          <a:xfrm>
            <a:off x="8819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96"/>
          <p:cNvSpPr/>
          <p:nvPr/>
        </p:nvSpPr>
        <p:spPr>
          <a:xfrm>
            <a:off x="9121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flowText-97"/>
          <p:cNvSpPr txBox="1"/>
          <p:nvPr/>
        </p:nvSpPr>
        <p:spPr>
          <a:xfrm>
            <a:off x="9121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ScenarioCompare</a:t>
            </a:r>
            <a:endParaRPr lang="en-US" sz="1400" dirty="0"/>
          </a:p>
        </p:txBody>
      </p:sp>
      <p:sp>
        <p:nvSpPr>
          <p:cNvPr id="15" name="frame-98"/>
          <p:cNvSpPr/>
          <p:nvPr/>
        </p:nvSpPr>
        <p:spPr>
          <a:xfrm>
            <a:off x="493776" y="2322576"/>
            <a:ext cx="5596128" cy="209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6" name="screenshot-99" descr="/home/user/cpat_ai/excel_ai/mitigation/presentation/img/v85_06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1986402"/>
          </a:xfrm>
          <a:prstGeom prst="rect">
            <a:avLst/>
          </a:prstGeom>
        </p:spPr>
      </p:pic>
      <p:sp>
        <p:nvSpPr>
          <p:cNvPr id="17" name="caption-100"/>
          <p:cNvSpPr txBox="1"/>
          <p:nvPr/>
        </p:nvSpPr>
        <p:spPr>
          <a:xfrm>
            <a:off x="548640" y="44735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ScenarioDefinition: one column per scenario, short name, Run? = Yes</a:t>
            </a:r>
            <a:endParaRPr lang="en-US" sz="1200" dirty="0"/>
          </a:p>
        </p:txBody>
      </p:sp>
      <p:sp>
        <p:nvSpPr>
          <p:cNvPr id="18" name="frame-101"/>
          <p:cNvSpPr/>
          <p:nvPr/>
        </p:nvSpPr>
        <p:spPr>
          <a:xfrm>
            <a:off x="6254496" y="2322576"/>
            <a:ext cx="5413248" cy="292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9" name="screenshot-102" descr="/home/user/cpat_ai/excel_ai/mitigation/presentation/img/v85_05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2813507"/>
          </a:xfrm>
          <a:prstGeom prst="rect">
            <a:avLst/>
          </a:prstGeom>
        </p:spPr>
      </p:pic>
      <p:sp>
        <p:nvSpPr>
          <p:cNvPr id="20" name="caption-103"/>
          <p:cNvSpPr txBox="1"/>
          <p:nvPr/>
        </p:nvSpPr>
        <p:spPr>
          <a:xfrm>
            <a:off x="6309360" y="53006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ScenarioCompare: key results vs the baseline (Live or Stored)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SPEED AND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recalculation time of legacy, about half the file size</a:t>
            </a:r>
            <a:endParaRPr lang="en-US" sz="3000" dirty="0"/>
          </a:p>
        </p:txBody>
      </p:sp>
      <p:sp>
        <p:nvSpPr>
          <p:cNvPr id="4" name="stat-104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recalculation after a change (legacy CPAT: about 10 s); opens with its values, no recalculation</a:t>
            </a:r>
            <a:endParaRPr lang="en-US" sz="4000" dirty="0"/>
          </a:p>
        </p:txBody>
      </p:sp>
      <p:sp>
        <p:nvSpPr>
          <p:cNvPr id="5" name="stat-105"/>
          <p:cNvSpPr txBox="1"/>
          <p:nvPr/>
        </p:nvSpPr>
        <p:spPr>
          <a:xfrm>
            <a:off x="41148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binary (.xlsb) today; 12-13 MB expected with all countries and the remaining modules (legacy CPAT: over 21 MB)</a:t>
            </a:r>
            <a:endParaRPr lang="en-US" sz="4000" dirty="0"/>
          </a:p>
        </p:txBody>
      </p:sp>
      <p:sp>
        <p:nvSpPr>
          <p:cNvPr id="6" name="stat-106"/>
          <p:cNvSpPr txBox="1"/>
          <p:nvPr/>
        </p:nvSpPr>
        <p:spPr>
          <a:xfrm>
            <a:off x="768096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data tabs linked to the data workbook (local file or SharePoint)</a:t>
            </a:r>
            <a:endParaRPr lang="en-US" sz="4000" dirty="0"/>
          </a:p>
        </p:txBody>
      </p:sp>
      <p:sp>
        <p:nvSpPr>
          <p:cNvPr id="7" name="badge-10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9"/>
          <p:cNvSpPr txBox="1"/>
          <p:nvPr/>
        </p:nvSpPr>
        <p:spPr>
          <a:xfrm>
            <a:off x="109728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Recalculate now / Recalculation 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Green buttons on ScenarioCompare: a timed full recalculation, or automatic calculation for interactive work.</a:t>
            </a:r>
            <a:endParaRPr lang="en-US" sz="1500" dirty="0"/>
          </a:p>
        </p:txBody>
      </p:sp>
      <p:sp>
        <p:nvSpPr>
          <p:cNvPr id="10" name="badge-110"/>
          <p:cNvSpPr/>
          <p:nvPr/>
        </p:nvSpPr>
        <p:spPr>
          <a:xfrm>
            <a:off x="612648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11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12"/>
          <p:cNvSpPr txBox="1"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Update data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Choose the data source on ScenarioCompare; each table is copied by column name; the status is on the Cover.</a:t>
            </a:r>
            <a:endParaRPr lang="en-US" sz="1500" dirty="0"/>
          </a:p>
        </p:txBody>
      </p:sp>
      <p:sp>
        <p:nvSpPr>
          <p:cNvPr id="13" name="card-113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cardText-114"/>
          <p:cNvSpPr txBox="1"/>
          <p:nvPr/>
        </p:nvSpPr>
        <p:spPr>
          <a:xfrm>
            <a:off x="713232" y="4681728"/>
            <a:ext cx="10735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LINKED TABS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Balances  ·  EnergyCons  ·  Prices_dom  ·  HHSurvey  ·  IO_GTAP  ·  HH_Elast  ·  WEO  ·  GDPRatios  ·  UNPop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cut CO2; the ETS price of Package B is still an estimate</a:t>
            </a:r>
            <a:endParaRPr lang="en-US" sz="3000" dirty="0"/>
          </a:p>
        </p:txBody>
      </p:sp>
      <p:graphicFrame>
        <p:nvGraphicFramePr>
          <p:cNvPr id="4" name="chart-115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116" descr=""/>
          <p:cNvGraphicFramePr/>
          <p:nvPr/>
        </p:nvGraphicFramePr>
        <p:xfrm>
          <a:off x="68580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-1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2030 vs baseline: $20 -7%, Package A -16%, Package B -7%. Package B ETS price 2030: 77 $/tCO2 (quick estimate).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THE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power model, its data from the legacy tabs</a:t>
            </a:r>
            <a:endParaRPr lang="en-US" sz="3000" dirty="0"/>
          </a:p>
        </p:txBody>
      </p:sp>
      <p:sp>
        <p:nvSpPr>
          <p:cNvPr id="4" name="flow-118"/>
          <p:cNvSpPr/>
          <p:nvPr/>
        </p:nvSpPr>
        <p:spPr>
          <a:xfrm>
            <a:off x="548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19"/>
          <p:cNvSpPr txBox="1"/>
          <p:nvPr/>
        </p:nvSpPr>
        <p:spPr>
          <a:xfrm>
            <a:off x="548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H. Demand</a:t>
            </a:r>
            <a:endParaRPr lang="en-US" sz="1400" dirty="0"/>
          </a:p>
        </p:txBody>
      </p:sp>
      <p:sp>
        <p:nvSpPr>
          <p:cNvPr id="6" name="flowArrow-120"/>
          <p:cNvSpPr/>
          <p:nvPr/>
        </p:nvSpPr>
        <p:spPr>
          <a:xfrm>
            <a:off x="2532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21"/>
          <p:cNvSpPr/>
          <p:nvPr/>
        </p:nvSpPr>
        <p:spPr>
          <a:xfrm>
            <a:off x="2834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22"/>
          <p:cNvSpPr txBox="1"/>
          <p:nvPr/>
        </p:nvSpPr>
        <p:spPr>
          <a:xfrm>
            <a:off x="2834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I. Dispatch</a:t>
            </a:r>
            <a:endParaRPr lang="en-US" sz="1400" dirty="0"/>
          </a:p>
        </p:txBody>
      </p:sp>
      <p:sp>
        <p:nvSpPr>
          <p:cNvPr id="9" name="flowArrow-123"/>
          <p:cNvSpPr/>
          <p:nvPr/>
        </p:nvSpPr>
        <p:spPr>
          <a:xfrm>
            <a:off x="4818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24"/>
          <p:cNvSpPr/>
          <p:nvPr/>
        </p:nvSpPr>
        <p:spPr>
          <a:xfrm>
            <a:off x="5120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25"/>
          <p:cNvSpPr txBox="1"/>
          <p:nvPr/>
        </p:nvSpPr>
        <p:spPr>
          <a:xfrm>
            <a:off x="5120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Capacity, retirement</a:t>
            </a:r>
            <a:endParaRPr lang="en-US" sz="1400" dirty="0"/>
          </a:p>
        </p:txBody>
      </p:sp>
      <p:sp>
        <p:nvSpPr>
          <p:cNvPr id="12" name="flowArrow-126"/>
          <p:cNvSpPr/>
          <p:nvPr/>
        </p:nvSpPr>
        <p:spPr>
          <a:xfrm>
            <a:off x="7104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27"/>
          <p:cNvSpPr/>
          <p:nvPr/>
        </p:nvSpPr>
        <p:spPr>
          <a:xfrm>
            <a:off x="7406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28"/>
          <p:cNvSpPr txBox="1"/>
          <p:nvPr/>
        </p:nvSpPr>
        <p:spPr>
          <a:xfrm>
            <a:off x="7406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L. Investment</a:t>
            </a:r>
            <a:endParaRPr lang="en-US" sz="1400" dirty="0"/>
          </a:p>
        </p:txBody>
      </p:sp>
      <p:sp>
        <p:nvSpPr>
          <p:cNvPr id="15" name="flowArrow-129"/>
          <p:cNvSpPr/>
          <p:nvPr/>
        </p:nvSpPr>
        <p:spPr>
          <a:xfrm>
            <a:off x="9390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30"/>
          <p:cNvSpPr/>
          <p:nvPr/>
        </p:nvSpPr>
        <p:spPr>
          <a:xfrm>
            <a:off x="9692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31"/>
          <p:cNvSpPr txBox="1"/>
          <p:nvPr/>
        </p:nvSpPr>
        <p:spPr>
          <a:xfrm>
            <a:off x="9692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G. Prices</a:t>
            </a:r>
            <a:endParaRPr lang="en-US" sz="1400" dirty="0"/>
          </a:p>
        </p:txBody>
      </p:sp>
      <p:graphicFrame>
        <p:nvGraphicFramePr>
          <p:cNvPr id="18" name="chart-132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-133"/>
          <p:cNvSpPr/>
          <p:nvPr/>
        </p:nvSpPr>
        <p:spPr>
          <a:xfrm>
            <a:off x="6583680" y="2377440"/>
            <a:ext cx="5029200" cy="3520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134"/>
          <p:cNvSpPr txBox="1"/>
          <p:nvPr/>
        </p:nvSpPr>
        <p:spPr>
          <a:xfrm>
            <a:off x="6748272" y="2487168"/>
            <a:ext cx="47000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data computed from the legacy Power, CoC and GHGs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bugs fixed: demand, capacity factors, hydro, WACC, sizing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demand as memo lines by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fuel use, revenue and CO2 in the totals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legacy power input can change by scenario</a:t>
            </a:r>
            <a:endParaRPr lang="en-US" sz="3000" dirty="0"/>
          </a:p>
        </p:txBody>
      </p:sp>
      <p:sp>
        <p:nvSpPr>
          <p:cNvPr id="4" name="card-135"/>
          <p:cNvSpPr/>
          <p:nvPr/>
        </p:nvSpPr>
        <p:spPr>
          <a:xfrm>
            <a:off x="548640" y="1371600"/>
            <a:ext cx="512064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36"/>
          <p:cNvSpPr txBox="1"/>
          <p:nvPr/>
        </p:nvSpPr>
        <p:spPr>
          <a:xfrm>
            <a:off x="713232" y="1481328"/>
            <a:ext cx="47914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ENGINEER OPTIONS,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Capacity factors, efficiency, WACC, lifetimes, scale-up and retirement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Gas capacity-factor cap; final deficit to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Long-term storage for high VRE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Manual capacity and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Coal implicit cost (GoalSeekCoal tab)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POWER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PPAs for coal and gas; renewable subsidies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excise, revenue rebate, price floor</a:t>
            </a:r>
            <a:endParaRPr lang="en-US" sz="1100" dirty="0"/>
          </a:p>
        </p:txBody>
      </p:sp>
      <p:sp>
        <p:nvSpPr>
          <p:cNvPr id="6" name="frame-137"/>
          <p:cNvSpPr/>
          <p:nvPr/>
        </p:nvSpPr>
        <p:spPr>
          <a:xfrm>
            <a:off x="5888736" y="1316736"/>
            <a:ext cx="5779008" cy="21464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screenshot-138" descr="/home/user/cpat_ai/excel_ai/mitigation/presentation/img/v85_03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2036713"/>
          </a:xfrm>
          <a:prstGeom prst="rect">
            <a:avLst/>
          </a:prstGeom>
        </p:spPr>
      </p:pic>
      <p:sp>
        <p:nvSpPr>
          <p:cNvPr id="8" name="caption-139"/>
          <p:cNvSpPr txBox="1"/>
          <p:nvPr/>
        </p:nvSpPr>
        <p:spPr>
          <a:xfrm>
            <a:off x="5943600" y="351804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Section 3, baseline: generation, VRE share, capacity, investment, prices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road model as an option, 17 legacy bugs fixed</a:t>
            </a:r>
            <a:endParaRPr lang="en-US" sz="3000" dirty="0"/>
          </a:p>
        </p:txBody>
      </p:sp>
      <p:sp>
        <p:nvSpPr>
          <p:cNvPr id="4" name="flow-140"/>
          <p:cNvSpPr/>
          <p:nvPr/>
        </p:nvSpPr>
        <p:spPr>
          <a:xfrm>
            <a:off x="54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41"/>
          <p:cNvSpPr txBox="1"/>
          <p:nvPr/>
        </p:nvSpPr>
        <p:spPr>
          <a:xfrm>
            <a:off x="54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6" name="flowArrow-142"/>
          <p:cNvSpPr/>
          <p:nvPr/>
        </p:nvSpPr>
        <p:spPr>
          <a:xfrm>
            <a:off x="215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43"/>
          <p:cNvSpPr/>
          <p:nvPr/>
        </p:nvSpPr>
        <p:spPr>
          <a:xfrm>
            <a:off x="245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44"/>
          <p:cNvSpPr txBox="1"/>
          <p:nvPr/>
        </p:nvSpPr>
        <p:spPr>
          <a:xfrm>
            <a:off x="245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</a:t>
            </a:r>
            <a:endParaRPr lang="en-US" sz="1400" dirty="0"/>
          </a:p>
        </p:txBody>
      </p:sp>
      <p:sp>
        <p:nvSpPr>
          <p:cNvPr id="9" name="flowArrow-145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46"/>
          <p:cNvSpPr/>
          <p:nvPr/>
        </p:nvSpPr>
        <p:spPr>
          <a:xfrm>
            <a:off x="435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47"/>
          <p:cNvSpPr txBox="1"/>
          <p:nvPr/>
        </p:nvSpPr>
        <p:spPr>
          <a:xfrm>
            <a:off x="435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 ownership</a:t>
            </a:r>
            <a:endParaRPr lang="en-US" sz="1400" dirty="0"/>
          </a:p>
        </p:txBody>
      </p:sp>
      <p:sp>
        <p:nvSpPr>
          <p:cNvPr id="12" name="flowArrow-148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49"/>
          <p:cNvSpPr/>
          <p:nvPr/>
        </p:nvSpPr>
        <p:spPr>
          <a:xfrm>
            <a:off x="626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50"/>
          <p:cNvSpPr txBox="1"/>
          <p:nvPr/>
        </p:nvSpPr>
        <p:spPr>
          <a:xfrm>
            <a:off x="626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 choice</a:t>
            </a:r>
            <a:endParaRPr lang="en-US" sz="1400" dirty="0"/>
          </a:p>
        </p:txBody>
      </p:sp>
      <p:sp>
        <p:nvSpPr>
          <p:cNvPr id="15" name="flowArrow-151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52"/>
          <p:cNvSpPr/>
          <p:nvPr/>
        </p:nvSpPr>
        <p:spPr>
          <a:xfrm>
            <a:off x="816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53"/>
          <p:cNvSpPr txBox="1"/>
          <p:nvPr/>
        </p:nvSpPr>
        <p:spPr>
          <a:xfrm>
            <a:off x="816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economy, distance</a:t>
            </a:r>
            <a:endParaRPr lang="en-US" sz="1400" dirty="0"/>
          </a:p>
        </p:txBody>
      </p:sp>
      <p:sp>
        <p:nvSpPr>
          <p:cNvPr id="18" name="flowArrow-154"/>
          <p:cNvSpPr/>
          <p:nvPr/>
        </p:nvSpPr>
        <p:spPr>
          <a:xfrm>
            <a:off x="977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155"/>
          <p:cNvSpPr/>
          <p:nvPr/>
        </p:nvSpPr>
        <p:spPr>
          <a:xfrm>
            <a:off x="1007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156"/>
          <p:cNvSpPr txBox="1"/>
          <p:nvPr/>
        </p:nvSpPr>
        <p:spPr>
          <a:xfrm>
            <a:off x="1007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use</a:t>
            </a:r>
            <a:endParaRPr lang="en-US" sz="1400" dirty="0"/>
          </a:p>
        </p:txBody>
      </p:sp>
      <p:graphicFrame>
        <p:nvGraphicFramePr>
          <p:cNvPr id="21" name="chart-157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card-158"/>
          <p:cNvSpPr/>
          <p:nvPr/>
        </p:nvSpPr>
        <p:spPr>
          <a:xfrm>
            <a:off x="6583680" y="2377440"/>
            <a:ext cx="50292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cardText-159"/>
          <p:cNvSpPr txBox="1"/>
          <p:nvPr/>
        </p:nvSpPr>
        <p:spPr>
          <a:xfrm>
            <a:off x="6748272" y="2487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Reproduces the cached legacy run (to 4e-14)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Fixes: ownership calibration two-sided, depreciation, buses; EV share of new cars 2035 21% -&gt; 9%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Switch TrModel per scenario (default: elasticities, as Egypt)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Feebates, distance tax, EV subsidies, purchase taxes, charging subsidies</a:t>
            </a:r>
            <a:endParaRPr lang="en-US" sz="1100" dirty="0"/>
          </a:p>
        </p:txBody>
      </p:sp>
      <p:sp>
        <p:nvSpPr>
          <p:cNvPr id="24" name="caption-16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road bugs: Legacy CPAT bugs, section 4.2 (Legacy_CPAT_Bugs_v8.5.docx); method: Methods, chapter Transport.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GHGS, NDC AND GDP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greenhouse gases, compared with the NDC target</a:t>
            </a:r>
            <a:endParaRPr lang="en-US" sz="3000" dirty="0"/>
          </a:p>
        </p:txBody>
      </p:sp>
      <p:graphicFrame>
        <p:nvGraphicFramePr>
          <p:cNvPr id="4" name="chart-161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62"/>
          <p:cNvSpPr txBox="1"/>
          <p:nvPr/>
        </p:nvSpPr>
        <p:spPr>
          <a:xfrm>
            <a:off x="658368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of the NDC reduction achieved by Package A in 2030 (BAU target, -27%)</a:t>
            </a:r>
            <a:endParaRPr lang="en-US" sz="4000" dirty="0"/>
          </a:p>
        </p:txBody>
      </p:sp>
      <p:sp>
        <p:nvSpPr>
          <p:cNvPr id="6" name="stat-163"/>
          <p:cNvSpPr txBox="1"/>
          <p:nvPr/>
        </p:nvSpPr>
        <p:spPr>
          <a:xfrm>
            <a:off x="923544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GHGs in 2030, Package A against the baseline</a:t>
            </a:r>
            <a:endParaRPr lang="en-US" sz="4000" dirty="0"/>
          </a:p>
        </p:txBody>
      </p:sp>
      <p:sp>
        <p:nvSpPr>
          <p:cNvPr id="7" name="card-164"/>
          <p:cNvSpPr/>
          <p:nvPr/>
        </p:nvSpPr>
        <p:spPr>
          <a:xfrm>
            <a:off x="6583680" y="3063240"/>
            <a:ext cx="5029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165"/>
          <p:cNvSpPr txBox="1"/>
          <p:nvPr/>
        </p:nvSpPr>
        <p:spPr>
          <a:xfrm>
            <a:off x="6748272" y="3172968"/>
            <a:ext cx="47000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Methane by source; methane fee in revenue and in the fiscal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Producer methane follows world demand,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NDC comparison: five NDC types, conditional or not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GDP effect of the revenue use, by use and by year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by decile, and how recycling changes it</a:t>
            </a:r>
            <a:endParaRPr lang="en-US" sz="3000" dirty="0"/>
          </a:p>
        </p:txBody>
      </p:sp>
      <p:graphicFrame>
        <p:nvGraphicFramePr>
          <p:cNvPr id="4" name="chart-166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7"/>
          <p:cNvSpPr/>
          <p:nvPr/>
        </p:nvSpPr>
        <p:spPr>
          <a:xfrm>
            <a:off x="6583680" y="1371600"/>
            <a:ext cx="502920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6" name="cardText-168"/>
          <p:cNvSpPr txBox="1"/>
          <p:nvPr/>
        </p:nvSpPr>
        <p:spPr>
          <a:xfrm>
            <a:off x="6748272" y="1481328"/>
            <a:ext cx="470001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THE LEGACY CHAIN, IN ONE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Direct and indirect price effects (GTAP input-output)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 recycling: tax cuts, investment, spending,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transfers; compensation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Gini, Lorenz curves, urban and rural, top-20 sectors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distribution bugs fixed (D10-D31)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Equal to a Python reference (505 values)</a:t>
            </a:r>
            <a:endParaRPr lang="en-US" sz="1100" dirty="0"/>
          </a:p>
        </p:txBody>
      </p:sp>
      <p:sp>
        <p:nvSpPr>
          <p:cNvPr id="7" name="caption-16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Deciles across, one analysis year (ScenarioDefinition YearDistn); scenario groups as on Mitigation.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Legacy's post-processing, rebuilt inside each scenario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371600"/>
            <a:ext cx="6035040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171"/>
          <p:cNvSpPr txBox="1"/>
          <p:nvPr/>
        </p:nvSpPr>
        <p:spPr>
          <a:xfrm>
            <a:off x="713232" y="1481328"/>
            <a:ext cx="57058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ROWS IN EVERY SCENARIO BLOCK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2: average prices and price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11b, 13b, 14b: changes by fuel and sector; Kaya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12d, 12e: revenue by fuel and by policy, % of GDP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14c: NDC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16, 16b: GDP effects; net energy imports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17: implicit carbon price, effective rate,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18: social cost of carbon, damages avoided, welfare</a:t>
            </a:r>
            <a:endParaRPr lang="en-US" sz="1100" dirty="0"/>
          </a:p>
        </p:txBody>
      </p:sp>
      <p:sp>
        <p:nvSpPr>
          <p:cNvPr id="6" name="card-172"/>
          <p:cNvSpPr/>
          <p:nvPr/>
        </p:nvSpPr>
        <p:spPr>
          <a:xfrm>
            <a:off x="6858000" y="1371600"/>
            <a:ext cx="475488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73"/>
          <p:cNvSpPr txBox="1"/>
          <p:nvPr/>
        </p:nvSpPr>
        <p:spPr>
          <a:xfrm>
            <a:off x="7022592" y="1481328"/>
            <a:ext cx="442569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EGYPT, CARBON PRICE $20 (SCENARIO 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Coverage of energy CO2, 2030: 99.8%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Implicit carbon price of fossil fuels, 2022: -193 $/tCO2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Net energy imports, 2030: -1.1 bn USD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Climate damages avoided, 2031: 2.0 bn USD (SCC 78 $/t)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Efficiency cost, 2031: -1.4 bn USD (negative = gain)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National welfare, 2031: 3.4 bn USD</a:t>
            </a:r>
            <a:endParaRPr lang="en-US" sz="1100" dirty="0"/>
          </a:p>
        </p:txBody>
      </p:sp>
      <p:sp>
        <p:nvSpPr>
          <p:cNvPr id="8" name="caption-17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Method: Methods, chapter Macro and results. Every new row is recomputed in Python in every scenario.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checked independently</a:t>
            </a:r>
            <a:endParaRPr lang="en-US" sz="3000" dirty="0"/>
          </a:p>
        </p:txBody>
      </p:sp>
      <p:sp>
        <p:nvSpPr>
          <p:cNvPr id="4" name="stat-175"/>
          <p:cNvSpPr txBox="1"/>
          <p:nvPr/>
        </p:nvSpPr>
        <p:spPr>
          <a:xfrm>
            <a:off x="5486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error values when LibreOffice recalculates the shipped file</a:t>
            </a:r>
            <a:endParaRPr lang="en-US" sz="4000" dirty="0"/>
          </a:p>
        </p:txBody>
      </p:sp>
      <p:sp>
        <p:nvSpPr>
          <p:cNvPr id="5" name="stat-176"/>
          <p:cNvSpPr txBox="1"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408,711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formulas, none longer than 100 characters</a:t>
            </a:r>
            <a:endParaRPr lang="en-US" sz="4000" dirty="0"/>
          </a:p>
        </p:txBody>
      </p:sp>
      <p:sp>
        <p:nvSpPr>
          <p:cNvPr id="6" name="stat-177"/>
          <p:cNvSpPr txBox="1"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codes; 546 of 13,396 changed against the last release</a:t>
            </a:r>
            <a:endParaRPr lang="en-US" sz="4000" dirty="0"/>
          </a:p>
        </p:txBody>
      </p:sp>
      <p:sp>
        <p:nvSpPr>
          <p:cNvPr id="7" name="stat-178"/>
          <p:cNvSpPr txBox="1"/>
          <p:nvPr/>
        </p:nvSpPr>
        <p:spPr>
          <a:xfrm>
            <a:off x="90525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found; none replicated in the prototype</a:t>
            </a:r>
            <a:endParaRPr lang="en-US" sz="4000" dirty="0"/>
          </a:p>
        </p:txBody>
      </p:sp>
      <p:sp>
        <p:nvSpPr>
          <p:cNvPr id="8" name="badge-17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badgeText-18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item-181"/>
          <p:cNvSpPr txBox="1"/>
          <p:nvPr/>
        </p:nvSpPr>
        <p:spPr>
          <a:xfrm>
            <a:off x="109728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Independent recomputation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Python recomputes prices, fuel use, power, revenue, emissions and distribution from the source data for the test scenarios.</a:t>
            </a:r>
            <a:endParaRPr lang="en-US" sz="1500" dirty="0"/>
          </a:p>
        </p:txBody>
      </p:sp>
      <p:sp>
        <p:nvSpPr>
          <p:cNvPr id="11" name="badge-182"/>
          <p:cNvSpPr/>
          <p:nvPr/>
        </p:nvSpPr>
        <p:spPr>
          <a:xfrm>
            <a:off x="612648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183"/>
          <p:cNvSpPr txBox="1"/>
          <p:nvPr/>
        </p:nvSpPr>
        <p:spPr>
          <a:xfrm>
            <a:off x="6126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item-184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Copy-paste and LAMBDAs tested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Pasted groups equal the stored results; the LAMBDA group equals the plain formulas of the last release.</a:t>
            </a:r>
            <a:endParaRPr lang="en-US" sz="1500" dirty="0"/>
          </a:p>
        </p:txBody>
      </p:sp>
      <p:sp>
        <p:nvSpPr>
          <p:cNvPr id="14" name="badge-18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badgeText-18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item-187"/>
          <p:cNvSpPr txBox="1"/>
          <p:nvPr/>
        </p:nvSpPr>
        <p:spPr>
          <a:xfrm>
            <a:off x="109728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Differences listed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 'Version Log, About, and Diff' lists every difference with legacy CPAT and why.</a:t>
            </a:r>
            <a:endParaRPr lang="en-US" sz="1500" dirty="0"/>
          </a:p>
        </p:txBody>
      </p:sp>
      <p:sp>
        <p:nvSpPr>
          <p:cNvPr id="17" name="badge-188"/>
          <p:cNvSpPr/>
          <p:nvPr/>
        </p:nvSpPr>
        <p:spPr>
          <a:xfrm>
            <a:off x="612648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badgeText-189"/>
          <p:cNvSpPr txBox="1"/>
          <p:nvPr/>
        </p:nvSpPr>
        <p:spPr>
          <a:xfrm>
            <a:off x="61264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tem-190"/>
          <p:cNvSpPr txBox="1"/>
          <p:nvPr/>
        </p:nvSpPr>
        <p:spPr>
          <a:xfrm>
            <a:off x="667512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Documented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model in equations, method notes and every formula; one register of bugs and issues.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run the check, then explore</a:t>
            </a:r>
            <a:endParaRPr lang="en-US" sz="3000" dirty="0"/>
          </a:p>
        </p:txBody>
      </p:sp>
      <p:sp>
        <p:nvSpPr>
          <p:cNvPr id="4" name="badge-19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19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193"/>
          <p:cNvSpPr txBox="1"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Open the .xlsm and enable macros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Debug &gt; Compile VBAProject once, then First-run test: PASS.</a:t>
            </a:r>
            <a:endParaRPr lang="en-US" sz="1500" dirty="0"/>
          </a:p>
        </p:txBody>
      </p:sp>
      <p:sp>
        <p:nvSpPr>
          <p:cNvPr id="7" name="badge-194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95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196"/>
          <p:cNvSpPr txBox="1"/>
          <p:nvPr/>
        </p:nvSpPr>
        <p:spPr>
          <a:xfrm>
            <a:off x="109728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Change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Edit its ScenarioDefinition column, then click Recalculate now.</a:t>
            </a:r>
            <a:endParaRPr lang="en-US" sz="1500" dirty="0"/>
          </a:p>
        </p:txBody>
      </p:sp>
      <p:sp>
        <p:nvSpPr>
          <p:cNvPr id="10" name="badge-197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98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199"/>
          <p:cNvSpPr txBox="1"/>
          <p:nvPr/>
        </p:nvSpPr>
        <p:spPr>
          <a:xfrm>
            <a:off x="1097280" y="3703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Run many scenarios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Run? = Yes on the definitions, click Run stored scenarios; read the dashboard.</a:t>
            </a:r>
            <a:endParaRPr lang="en-US" sz="1500" dirty="0"/>
          </a:p>
        </p:txBody>
      </p:sp>
      <p:sp>
        <p:nvSpPr>
          <p:cNvPr id="13" name="badge-200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201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item-202"/>
          <p:cNvSpPr txBox="1"/>
          <p:nvPr/>
        </p:nvSpPr>
        <p:spPr>
          <a:xfrm>
            <a:off x="10972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Read more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Cover tab, QuickStart and equations; the bugs and issues register in Word.</a:t>
            </a:r>
            <a:endParaRPr lang="en-US" sz="1500" dirty="0"/>
          </a:p>
        </p:txBody>
      </p:sp>
      <p:sp>
        <p:nvSpPr>
          <p:cNvPr id="16" name="card-203"/>
          <p:cNvSpPr/>
          <p:nvPr/>
        </p:nvSpPr>
        <p:spPr>
          <a:xfrm>
            <a:off x="7406640" y="137160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next-204"/>
          <p:cNvSpPr txBox="1"/>
          <p:nvPr/>
        </p:nvSpPr>
        <p:spPr>
          <a:xfrm>
            <a:off x="7635240" y="1600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WHAT REMAINS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Review in Excel 365: timings, macros, links (I1)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Send bugs and fix plans to the CPAT team (U4)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Align codes: Excel, Python, master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Link the other data tabs (GHGs, EF_GHG ...)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DATA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GAINS emission-factor paths (I64)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Blank VAT cells in the price data (I65)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Proprietary tables, other countries (I13)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Historical GHGs 2018-2020 (I68)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CPAT-AI-Mitigation-Prototype v8.5: overview, status, legacy bugs and user guide</dc:title>
  <dc:subject>PptxGenJS Presentation</dc:subject>
  <dc:creator>PptxGenJS</dc:creator>
  <cp:lastModifiedBy>PptxGenJS</cp:lastModifiedBy>
  <cp:revision>1</cp:revision>
  <dcterms:created xsi:type="dcterms:W3CDTF">2026-10-29T01:53:16Z</dcterms:created>
  <dcterms:modified xsi:type="dcterms:W3CDTF">2026-10-29T01:53:16Z</dcterms:modified>
</cp:coreProperties>
</file>