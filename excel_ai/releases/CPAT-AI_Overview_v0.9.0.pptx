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bb97a73-08eb-d06a-c692-8cdb1153c967}">
          <p14:sldIdLst>
            <p14:sldId id="256"/>
            <p14:sldId id="257"/>
            <p14:sldId id="258"/>
            <p14:sldId id="259"/>
            <p14:sldId id="260"/>
          </p14:sldIdLst>
        </p14:section>
        <p14:section name="Using the workbook" id="{3d50bd5f-e36d-1186-452e-0b6a1bdf21be}">
          <p14:sldIdLst>
            <p14:sldId id="261"/>
            <p14:sldId id="262"/>
            <p14:sldId id="263"/>
          </p14:sldIdLst>
        </p14:section>
        <p14:section name="Model and results" id="{80ef743b-a1c4-1725-8bf1-fb7475835692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Next steps" id="{1574f022-514c-ff0b-61c1-f09ea8906fd7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CO2 from fuel combustion incl. power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207.394460991361</c:v>
                </c:pt>
                <c:pt idx="2">
                  <c:v>246.073387892395</c:v>
                </c:pt>
                <c:pt idx="3">
                  <c:v>260.959044047654</c:v>
                </c:pt>
                <c:pt idx="4">
                  <c:v>268.215858861385</c:v>
                </c:pt>
                <c:pt idx="5">
                  <c:v>275.334691190855</c:v>
                </c:pt>
                <c:pt idx="6">
                  <c:v>283.612682545447</c:v>
                </c:pt>
                <c:pt idx="7">
                  <c:v>291.759348699353</c:v>
                </c:pt>
                <c:pt idx="8">
                  <c:v>298.724924364419</c:v>
                </c:pt>
                <c:pt idx="9">
                  <c:v>301.935616516062</c:v>
                </c:pt>
                <c:pt idx="10">
                  <c:v>305.178073847974</c:v>
                </c:pt>
                <c:pt idx="11">
                  <c:v>311.336797873581</c:v>
                </c:pt>
                <c:pt idx="12">
                  <c:v>316.963470081377</c:v>
                </c:pt>
                <c:pt idx="13">
                  <c:v>323.084481401708</c:v>
                </c:pt>
                <c:pt idx="14">
                  <c:v>329.249236875163</c:v>
                </c:pt>
                <c:pt idx="15">
                  <c:v>335.537116640607</c:v>
                </c:pt>
                <c:pt idx="16">
                  <c:v>341.920124597611</c:v>
                </c:pt>
                <c:pt idx="17">
                  <c:v>348.405429370888</c:v>
                </c:pt>
                <c:pt idx="18">
                  <c:v>355.002513083738</c:v>
                </c:pt>
                <c:pt idx="19">
                  <c:v>361.714866019559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207.339313424216</c:v>
                </c:pt>
                <c:pt idx="2">
                  <c:v>246.020234230202</c:v>
                </c:pt>
                <c:pt idx="3">
                  <c:v>260.907814973058</c:v>
                </c:pt>
                <c:pt idx="4">
                  <c:v>268.164366996148</c:v>
                </c:pt>
                <c:pt idx="5">
                  <c:v>252.168326000848</c:v>
                </c:pt>
                <c:pt idx="6">
                  <c:v>249.264889827245</c:v>
                </c:pt>
                <c:pt idx="7">
                  <c:v>258.850821741208</c:v>
                </c:pt>
                <c:pt idx="8">
                  <c:v>263.919306821398</c:v>
                </c:pt>
                <c:pt idx="9">
                  <c:v>268.05505735149</c:v>
                </c:pt>
                <c:pt idx="10">
                  <c:v>270.770976489249</c:v>
                </c:pt>
                <c:pt idx="11">
                  <c:v>276.586787175284</c:v>
                </c:pt>
                <c:pt idx="12">
                  <c:v>281.666578054741</c:v>
                </c:pt>
                <c:pt idx="13">
                  <c:v>287.397490720633</c:v>
                </c:pt>
                <c:pt idx="14">
                  <c:v>293.194888902632</c:v>
                </c:pt>
                <c:pt idx="15">
                  <c:v>299.242790824256</c:v>
                </c:pt>
                <c:pt idx="16">
                  <c:v>305.221694644216</c:v>
                </c:pt>
                <c:pt idx="17">
                  <c:v>311.239752577839</c:v>
                </c:pt>
                <c:pt idx="18">
                  <c:v>317.169035769373</c:v>
                </c:pt>
                <c:pt idx="19">
                  <c:v>323.159346848442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207.204080188795</c:v>
                </c:pt>
                <c:pt idx="2">
                  <c:v>245.889898609041</c:v>
                </c:pt>
                <c:pt idx="3">
                  <c:v>260.782206412429</c:v>
                </c:pt>
                <c:pt idx="4">
                  <c:v>268.038434760533</c:v>
                </c:pt>
                <c:pt idx="5">
                  <c:v>260.268197632972</c:v>
                </c:pt>
                <c:pt idx="6">
                  <c:v>246.857875880725</c:v>
                </c:pt>
                <c:pt idx="7">
                  <c:v>232.812458091816</c:v>
                </c:pt>
                <c:pt idx="8">
                  <c:v>223.93787725208</c:v>
                </c:pt>
                <c:pt idx="9">
                  <c:v>218.281033433259</c:v>
                </c:pt>
                <c:pt idx="10">
                  <c:v>210.663642110291</c:v>
                </c:pt>
                <c:pt idx="11">
                  <c:v>206.235770785813</c:v>
                </c:pt>
                <c:pt idx="12">
                  <c:v>200.458866575936</c:v>
                </c:pt>
                <c:pt idx="13">
                  <c:v>196.569677701151</c:v>
                </c:pt>
                <c:pt idx="14">
                  <c:v>191.95353495634</c:v>
                </c:pt>
                <c:pt idx="15">
                  <c:v>188.825963033593</c:v>
                </c:pt>
                <c:pt idx="16">
                  <c:v>184.799609506563</c:v>
                </c:pt>
                <c:pt idx="17">
                  <c:v>182.392301790428</c:v>
                </c:pt>
                <c:pt idx="18">
                  <c:v>178.497334980671</c:v>
                </c:pt>
                <c:pt idx="19">
                  <c:v>176.902731941436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207.068132529829</c:v>
                </c:pt>
                <c:pt idx="2">
                  <c:v>245.758733257086</c:v>
                </c:pt>
                <c:pt idx="3">
                  <c:v>260.655659567373</c:v>
                </c:pt>
                <c:pt idx="4">
                  <c:v>267.911248775574</c:v>
                </c:pt>
                <c:pt idx="5">
                  <c:v>248.567045092647</c:v>
                </c:pt>
                <c:pt idx="6">
                  <c:v>255.602475632502</c:v>
                </c:pt>
                <c:pt idx="7">
                  <c:v>262.661576741228</c:v>
                </c:pt>
                <c:pt idx="8">
                  <c:v>268.225616113707</c:v>
                </c:pt>
                <c:pt idx="9">
                  <c:v>267.540969873074</c:v>
                </c:pt>
                <c:pt idx="10">
                  <c:v>267.335649037255</c:v>
                </c:pt>
                <c:pt idx="11">
                  <c:v>271.304274659323</c:v>
                </c:pt>
                <c:pt idx="12">
                  <c:v>270.682949962233</c:v>
                </c:pt>
                <c:pt idx="13">
                  <c:v>271.685785414806</c:v>
                </c:pt>
                <c:pt idx="14">
                  <c:v>272.889089047741</c:v>
                </c:pt>
                <c:pt idx="15">
                  <c:v>273.692511701706</c:v>
                </c:pt>
                <c:pt idx="16">
                  <c:v>274.967620883929</c:v>
                </c:pt>
                <c:pt idx="17">
                  <c:v>276.428860454557</c:v>
                </c:pt>
                <c:pt idx="18">
                  <c:v>277.757916621007</c:v>
                </c:pt>
                <c:pt idx="19">
                  <c:v>279.498363496659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Package B: covered CO2 and cap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Covered CO2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121.664456426344</c:v>
                </c:pt>
                <c:pt idx="6">
                  <c:v>124.736300091355</c:v>
                </c:pt>
                <c:pt idx="7">
                  <c:v>127.964714325871</c:v>
                </c:pt>
                <c:pt idx="8">
                  <c:v>130.116547616506</c:v>
                </c:pt>
                <c:pt idx="9">
                  <c:v>125.833097225762</c:v>
                </c:pt>
                <c:pt idx="10">
                  <c:v>122.09147792889</c:v>
                </c:pt>
                <c:pt idx="11">
                  <c:v>122.348585778631</c:v>
                </c:pt>
                <c:pt idx="12">
                  <c:v>117.97184331861</c:v>
                </c:pt>
                <c:pt idx="13">
                  <c:v>115.193794632612</c:v>
                </c:pt>
                <c:pt idx="14">
                  <c:v>112.554440162301</c:v>
                </c:pt>
                <c:pt idx="15">
                  <c:v>109.428574673454</c:v>
                </c:pt>
                <c:pt idx="16">
                  <c:v>106.786748930949</c:v>
                </c:pt>
                <c:pt idx="17">
                  <c:v>104.306913135813</c:v>
                </c:pt>
                <c:pt idx="18">
                  <c:v>101.715541519238</c:v>
                </c:pt>
                <c:pt idx="19">
                  <c:v>99.494201828281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117.152942210427</c:v>
                </c:pt>
                <c:pt idx="6">
                  <c:v>118.137342656937</c:v>
                </c:pt>
                <c:pt idx="7">
                  <c:v>119.062587482012</c:v>
                </c:pt>
                <c:pt idx="8">
                  <c:v>119.071910241602</c:v>
                </c:pt>
                <c:pt idx="9">
                  <c:v>115.663246685643</c:v>
                </c:pt>
                <c:pt idx="10">
                  <c:v>112.278618374881</c:v>
                </c:pt>
                <c:pt idx="11">
                  <c:v>111.335564232874</c:v>
                </c:pt>
                <c:pt idx="12">
                  <c:v>109.850259911713</c:v>
                </c:pt>
                <c:pt idx="13">
                  <c:v>108.677218081803</c:v>
                </c:pt>
                <c:pt idx="14">
                  <c:v>108.677218081803</c:v>
                </c:pt>
                <c:pt idx="15">
                  <c:v>108.677218081803</c:v>
                </c:pt>
                <c:pt idx="16">
                  <c:v>108.677218081803</c:v>
                </c:pt>
                <c:pt idx="17">
                  <c:v>108.677218081803</c:v>
                </c:pt>
                <c:pt idx="18">
                  <c:v>108.677218081803</c:v>
                </c:pt>
                <c:pt idx="19">
                  <c:v>108.677218081803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Variable renewable share of generation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0.0747068373007149</c:v>
                </c:pt>
                <c:pt idx="2">
                  <c:v>0.0624066381005966</c:v>
                </c:pt>
                <c:pt idx="3">
                  <c:v>0.0840940896760025</c:v>
                </c:pt>
                <c:pt idx="4">
                  <c:v>0.108698432042598</c:v>
                </c:pt>
                <c:pt idx="5">
                  <c:v>0.133537288050849</c:v>
                </c:pt>
                <c:pt idx="6">
                  <c:v>0.157661619044687</c:v>
                </c:pt>
                <c:pt idx="7">
                  <c:v>0.181266552103232</c:v>
                </c:pt>
                <c:pt idx="8">
                  <c:v>0.205904779764169</c:v>
                </c:pt>
                <c:pt idx="9">
                  <c:v>0.230809479415924</c:v>
                </c:pt>
                <c:pt idx="10">
                  <c:v>0.254735883208655</c:v>
                </c:pt>
                <c:pt idx="11">
                  <c:v>0.27190291923207</c:v>
                </c:pt>
                <c:pt idx="12">
                  <c:v>0.287380545006415</c:v>
                </c:pt>
                <c:pt idx="13">
                  <c:v>0.302339327396605</c:v>
                </c:pt>
                <c:pt idx="14">
                  <c:v>0.316356485559767</c:v>
                </c:pt>
                <c:pt idx="15">
                  <c:v>0.329591996860462</c:v>
                </c:pt>
                <c:pt idx="16">
                  <c:v>0.342087837062709</c:v>
                </c:pt>
                <c:pt idx="17">
                  <c:v>0.353911208435676</c:v>
                </c:pt>
                <c:pt idx="18">
                  <c:v>0.365102017756921</c:v>
                </c:pt>
                <c:pt idx="19">
                  <c:v>0.375707219153423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0.0753483062224609</c:v>
                </c:pt>
                <c:pt idx="2">
                  <c:v>0.0629424514251141</c:v>
                </c:pt>
                <c:pt idx="3">
                  <c:v>0.0845518862339526</c:v>
                </c:pt>
                <c:pt idx="4">
                  <c:v>0.109120117203703</c:v>
                </c:pt>
                <c:pt idx="5">
                  <c:v>0.133931987255182</c:v>
                </c:pt>
                <c:pt idx="6">
                  <c:v>0.172836852562033</c:v>
                </c:pt>
                <c:pt idx="7">
                  <c:v>0.159662072079644</c:v>
                </c:pt>
                <c:pt idx="8">
                  <c:v>0.186397228650357</c:v>
                </c:pt>
                <c:pt idx="9">
                  <c:v>0.20955916069358</c:v>
                </c:pt>
                <c:pt idx="10">
                  <c:v>0.233232283192853</c:v>
                </c:pt>
                <c:pt idx="11">
                  <c:v>0.251729637610741</c:v>
                </c:pt>
                <c:pt idx="12">
                  <c:v>0.268139904458614</c:v>
                </c:pt>
                <c:pt idx="13">
                  <c:v>0.283933248486597</c:v>
                </c:pt>
                <c:pt idx="14">
                  <c:v>0.298689247703917</c:v>
                </c:pt>
                <c:pt idx="15">
                  <c:v>0.312471739945525</c:v>
                </c:pt>
                <c:pt idx="16">
                  <c:v>0.325601936780172</c:v>
                </c:pt>
                <c:pt idx="17">
                  <c:v>0.338111589617448</c:v>
                </c:pt>
                <c:pt idx="18">
                  <c:v>0.350123369388916</c:v>
                </c:pt>
                <c:pt idx="19">
                  <c:v>0.361559501891888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0.0769338155296667</c:v>
                </c:pt>
                <c:pt idx="2">
                  <c:v>0.0642668133453068</c:v>
                </c:pt>
                <c:pt idx="3">
                  <c:v>0.0856834171434314</c:v>
                </c:pt>
                <c:pt idx="4">
                  <c:v>0.11016211681297</c:v>
                </c:pt>
                <c:pt idx="5">
                  <c:v>0.134906997193829</c:v>
                </c:pt>
                <c:pt idx="6">
                  <c:v>0.166543472422852</c:v>
                </c:pt>
                <c:pt idx="7">
                  <c:v>0.201820978186298</c:v>
                </c:pt>
                <c:pt idx="8">
                  <c:v>0.206339012768231</c:v>
                </c:pt>
                <c:pt idx="9">
                  <c:v>0.213611225089062</c:v>
                </c:pt>
                <c:pt idx="10">
                  <c:v>0.241581230535463</c:v>
                </c:pt>
                <c:pt idx="11">
                  <c:v>0.256122876024245</c:v>
                </c:pt>
                <c:pt idx="12">
                  <c:v>0.282513394917959</c:v>
                </c:pt>
                <c:pt idx="13">
                  <c:v>0.304753125993933</c:v>
                </c:pt>
                <c:pt idx="14">
                  <c:v>0.325824363288639</c:v>
                </c:pt>
                <c:pt idx="15">
                  <c:v>0.343786356673971</c:v>
                </c:pt>
                <c:pt idx="16">
                  <c:v>0.360326069680833</c:v>
                </c:pt>
                <c:pt idx="17">
                  <c:v>0.37395722683686</c:v>
                </c:pt>
                <c:pt idx="18">
                  <c:v>0.387251013378168</c:v>
                </c:pt>
                <c:pt idx="19">
                  <c:v>0.397474658277986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0.0785193114134824</c:v>
                </c:pt>
                <c:pt idx="2">
                  <c:v>0.0655925901461494</c:v>
                </c:pt>
                <c:pt idx="3">
                  <c:v>0.086817424539667</c:v>
                </c:pt>
                <c:pt idx="4">
                  <c:v>0.111207900083948</c:v>
                </c:pt>
                <c:pt idx="5">
                  <c:v>0.135887059433188</c:v>
                </c:pt>
                <c:pt idx="6">
                  <c:v>0.159862422581565</c:v>
                </c:pt>
                <c:pt idx="7">
                  <c:v>0.183252149801418</c:v>
                </c:pt>
                <c:pt idx="8">
                  <c:v>0.208001893920968</c:v>
                </c:pt>
                <c:pt idx="9">
                  <c:v>0.23272465419912</c:v>
                </c:pt>
                <c:pt idx="10">
                  <c:v>0.256642513988238</c:v>
                </c:pt>
                <c:pt idx="11">
                  <c:v>0.273057826869064</c:v>
                </c:pt>
                <c:pt idx="12">
                  <c:v>0.287802495082704</c:v>
                </c:pt>
                <c:pt idx="13">
                  <c:v>0.302299145921418</c:v>
                </c:pt>
                <c:pt idx="14">
                  <c:v>0.315210188227643</c:v>
                </c:pt>
                <c:pt idx="15">
                  <c:v>0.327416556030656</c:v>
                </c:pt>
                <c:pt idx="16">
                  <c:v>0.339131261188347</c:v>
                </c:pt>
                <c:pt idx="17">
                  <c:v>0.350211188146644</c:v>
                </c:pt>
                <c:pt idx="18">
                  <c:v>0.360948652121711</c:v>
                </c:pt>
                <c:pt idx="19">
                  <c:v>0.371178233078356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Egypt road fuel use, baseline (ktoe)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engineer run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24698</c:v>
                </c:pt>
                <c:pt idx="1">
                  <c:v>40573</c:v>
                </c:pt>
                <c:pt idx="2">
                  <c:v>65741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fixes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19355</c:v>
                </c:pt>
                <c:pt idx="1">
                  <c:v>26289</c:v>
                </c:pt>
                <c:pt idx="2">
                  <c:v>34652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GHG emissions excl. LULUCF (Mt CO2e)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412.226521412319</c:v>
                </c:pt>
                <c:pt idx="2">
                  <c:v>458.949889896211</c:v>
                </c:pt>
                <c:pt idx="3">
                  <c:v>480.643338963356</c:v>
                </c:pt>
                <c:pt idx="4">
                  <c:v>491.540798111231</c:v>
                </c:pt>
                <c:pt idx="5">
                  <c:v>502.834950852182</c:v>
                </c:pt>
                <c:pt idx="6">
                  <c:v>515.816321036576</c:v>
                </c:pt>
                <c:pt idx="7">
                  <c:v>528.57105876761</c:v>
                </c:pt>
                <c:pt idx="8">
                  <c:v>539.979833602139</c:v>
                </c:pt>
                <c:pt idx="9">
                  <c:v>547.659523410402</c:v>
                </c:pt>
                <c:pt idx="10">
                  <c:v>555.38580697143</c:v>
                </c:pt>
                <c:pt idx="11">
                  <c:v>566.109089277332</c:v>
                </c:pt>
                <c:pt idx="12">
                  <c:v>576.343418812036</c:v>
                </c:pt>
                <c:pt idx="13">
                  <c:v>587.122090344485</c:v>
                </c:pt>
                <c:pt idx="14">
                  <c:v>597.987905365628</c:v>
                </c:pt>
                <c:pt idx="15">
                  <c:v>609.023732589216</c:v>
                </c:pt>
                <c:pt idx="16">
                  <c:v>620.191800187939</c:v>
                </c:pt>
                <c:pt idx="17">
                  <c:v>631.497193712753</c:v>
                </c:pt>
                <c:pt idx="18">
                  <c:v>642.940080828435</c:v>
                </c:pt>
                <c:pt idx="19">
                  <c:v>654.513226085913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412.171002171646</c:v>
                </c:pt>
                <c:pt idx="2">
                  <c:v>458.896378232585</c:v>
                </c:pt>
                <c:pt idx="3">
                  <c:v>480.591790203899</c:v>
                </c:pt>
                <c:pt idx="4">
                  <c:v>491.488990294658</c:v>
                </c:pt>
                <c:pt idx="5">
                  <c:v>469.226035757231</c:v>
                </c:pt>
                <c:pt idx="6">
                  <c:v>470.50480066682</c:v>
                </c:pt>
                <c:pt idx="7">
                  <c:v>484.404248991966</c:v>
                </c:pt>
                <c:pt idx="8">
                  <c:v>493.474787872485</c:v>
                </c:pt>
                <c:pt idx="9">
                  <c:v>501.742064973746</c:v>
                </c:pt>
                <c:pt idx="10">
                  <c:v>508.549955668809</c:v>
                </c:pt>
                <c:pt idx="11">
                  <c:v>518.601000138669</c:v>
                </c:pt>
                <c:pt idx="12">
                  <c:v>527.986192575509</c:v>
                </c:pt>
                <c:pt idx="13">
                  <c:v>538.0546867951</c:v>
                </c:pt>
                <c:pt idx="14">
                  <c:v>548.243784097369</c:v>
                </c:pt>
                <c:pt idx="15">
                  <c:v>558.76390703558</c:v>
                </c:pt>
                <c:pt idx="16">
                  <c:v>569.214796590885</c:v>
                </c:pt>
                <c:pt idx="17">
                  <c:v>579.718140601795</c:v>
                </c:pt>
                <c:pt idx="18">
                  <c:v>590.109682795516</c:v>
                </c:pt>
                <c:pt idx="19">
                  <c:v>600.558834941755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412.034843245254</c:v>
                </c:pt>
                <c:pt idx="2">
                  <c:v>458.765150914455</c:v>
                </c:pt>
                <c:pt idx="3">
                  <c:v>480.465384438738</c:v>
                </c:pt>
                <c:pt idx="4">
                  <c:v>491.362274309929</c:v>
                </c:pt>
                <c:pt idx="5">
                  <c:v>481.098623018449</c:v>
                </c:pt>
                <c:pt idx="6">
                  <c:v>465.122302360626</c:v>
                </c:pt>
                <c:pt idx="7">
                  <c:v>449.664071400765</c:v>
                </c:pt>
                <c:pt idx="8">
                  <c:v>440.088211590369</c:v>
                </c:pt>
                <c:pt idx="9">
                  <c:v>434.817516273537</c:v>
                </c:pt>
                <c:pt idx="10">
                  <c:v>427.861559492307</c:v>
                </c:pt>
                <c:pt idx="11">
                  <c:v>424.406531740186</c:v>
                </c:pt>
                <c:pt idx="12">
                  <c:v>419.826768069494</c:v>
                </c:pt>
                <c:pt idx="13">
                  <c:v>417.342931385601</c:v>
                </c:pt>
                <c:pt idx="14">
                  <c:v>414.277797043297</c:v>
                </c:pt>
                <c:pt idx="15">
                  <c:v>412.86220322643</c:v>
                </c:pt>
                <c:pt idx="16">
                  <c:v>410.6406742664</c:v>
                </c:pt>
                <c:pt idx="17">
                  <c:v>410.138599835657</c:v>
                </c:pt>
                <c:pt idx="18">
                  <c:v>408.174591785102</c:v>
                </c:pt>
                <c:pt idx="19">
                  <c:v>408.559853852151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411.897974586791</c:v>
                </c:pt>
                <c:pt idx="2">
                  <c:v>458.633097432357</c:v>
                </c:pt>
                <c:pt idx="3">
                  <c:v>480.338042632426</c:v>
                </c:pt>
                <c:pt idx="4">
                  <c:v>491.234302773812</c:v>
                </c:pt>
                <c:pt idx="5">
                  <c:v>464.585265332392</c:v>
                </c:pt>
                <c:pt idx="6">
                  <c:v>475.553645834769</c:v>
                </c:pt>
                <c:pt idx="7">
                  <c:v>486.501245517991</c:v>
                </c:pt>
                <c:pt idx="8">
                  <c:v>495.730917497767</c:v>
                </c:pt>
                <c:pt idx="9">
                  <c:v>498.800417036352</c:v>
                </c:pt>
                <c:pt idx="10">
                  <c:v>502.324659339185</c:v>
                </c:pt>
                <c:pt idx="11">
                  <c:v>510.185710431116</c:v>
                </c:pt>
                <c:pt idx="12">
                  <c:v>513.450704219511</c:v>
                </c:pt>
                <c:pt idx="13">
                  <c:v>518.390778764779</c:v>
                </c:pt>
                <c:pt idx="14">
                  <c:v>523.690687816263</c:v>
                </c:pt>
                <c:pt idx="15">
                  <c:v>528.646213305328</c:v>
                </c:pt>
                <c:pt idx="16">
                  <c:v>534.078636228524</c:v>
                </c:pt>
                <c:pt idx="17">
                  <c:v>539.716719737399</c:v>
                </c:pt>
                <c:pt idx="18">
                  <c:v>545.204155310084</c:v>
                </c:pt>
                <c:pt idx="19">
                  <c:v>551.114866073351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Effect by decile, 2030, carbon price $20 (% of consumption)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effects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-0.01760657738334</c:v>
                </c:pt>
                <c:pt idx="1">
                  <c:v>-0.0160622550444993</c:v>
                </c:pt>
                <c:pt idx="2">
                  <c:v>-0.0154090416751892</c:v>
                </c:pt>
                <c:pt idx="3">
                  <c:v>-0.0142765747377072</c:v>
                </c:pt>
                <c:pt idx="4">
                  <c:v>-0.014321286738573</c:v>
                </c:pt>
                <c:pt idx="5">
                  <c:v>-0.014166409518862699</c:v>
                </c:pt>
                <c:pt idx="6">
                  <c:v>-0.0146368118292577</c:v>
                </c:pt>
                <c:pt idx="7">
                  <c:v>-0.014681863120765798</c:v>
                </c:pt>
                <c:pt idx="8">
                  <c:v>-0.014040170791575</c:v>
                </c:pt>
                <c:pt idx="9">
                  <c:v>-0.014544287855806599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effect after recycling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0.0244376213744566</c:v>
                </c:pt>
                <c:pt idx="1">
                  <c:v>0.0137115376860783</c:v>
                </c:pt>
                <c:pt idx="2">
                  <c:v>0.00334177241015657</c:v>
                </c:pt>
                <c:pt idx="3">
                  <c:v>0.000642531619191245</c:v>
                </c:pt>
                <c:pt idx="4">
                  <c:v>-0.00405534566273121</c:v>
                </c:pt>
                <c:pt idx="5">
                  <c:v>-0.00807565805160722</c:v>
                </c:pt>
                <c:pt idx="6">
                  <c:v>-0.0105947922519001</c:v>
                </c:pt>
                <c:pt idx="7">
                  <c:v>-0.01158179711632</c:v>
                </c:pt>
                <c:pt idx="8">
                  <c:v>-0.0104312077604018</c:v>
                </c:pt>
                <c:pt idx="9">
                  <c:v>-0.013090074271429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workbook for the CPAT mitigation chain (policies, prices, power, fuel use, revenues, emissions, GDP) and the distribution module. Generated and checked by AI; every value is recomputed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Around it: quick start, equations, method notes, every formula listed; the bug register with cell-by-cell fix plans for legacy CPAT; the Python model (Coded CPAT) shares the same codes. v7.2: every prototype code follows the CPAT code protocol (legacy variable names, no model letters, tot for totals, each code once); the v7.1 stems stay as aliases for one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section numbers follow legacy CPAT. Equations: Equations.md; every workbook formula: Formulas.md. Section 15 keeps the air-pollutant input table; the co-benefits and transport-externality modules were dropped by the user on 2026-10-20.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from the register (issues_register.py, make_legacy_fixes.py). The prototype never replicates a legacy bug; it replicates legacy issues and tracks them (NORMS section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Readability, copy-pasteable formulas, fast scenarios, and independent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section is rolled up to its summary row on open; columns B:G and I:K are grouped. Row 5 holds the scenario number (a formula); every input row looks up its value in that ScenarioDefinition column. Two groups ship (v6.6); more by pasting group 2 to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copies each definition into the live column, recalculates, runs the ETS goal seek where needed, and stores the results as values (StoredOutputs, sorted; every lookup by output code). The dashboard reads Live (LiveOutputs) or Stored results; charts show only scenarios with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and sizes measured by the user in Excel 365 (2026-10-22): legacy about 10 s per recalculation, CPAT-AI about 5 s; CPAT-AI about 10 MB as .xlsb, legacy over 21 MB. Why: short formulas, one formula per block, two scenario groups shipped, values stored. v6.6: values stored, OFFSET and COUNTIFS replaced (formulas 568k -&gt; 404k). v7.1: Balances, EnergyCons, Prices_dom, HHSurvey, IO_GTAP, HH_Elast (rows of the country); WEO, GDPRatios, UNPop (all rows). Data workbook: data/workbooks/CPAT_Data_dummy_python.xlsx (dummy values).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Stored scenario results (StoredOutputs). Baseline = no carbon price; Package A = carbon tax to $50 + feebates; Package B = ETS on power and industry + carbon tax elsewhere. Builds store a new ETS at its quick price estimate; the batch macro's goal seek on the cap is tested separately by the user (issue I30).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responds to last year's price; dispatch fills demand from capacity; investment follows a logit on levelised cost within scale-up limits, sized for next year's generation estimated from this year's growth (L67, no circular reference). The power data step on Inputs reproduces legacy Mitigation section 4 with L52-L56 fixed. A carbon price raises the VRE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plan P1-P5 (v5.4, v5.6): every ScenarioDefinition power input is read in the scenario's own column; section 3 sub-table A0 applies them. Defaults keep Egypt's results. Legacy bugs fixed on the way: L107, L108, L114, L118.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 computes the engineer road model but the Egypt run uses the elasticity approach. The fixes cut the engineer baseline by about a third by 2035, mainly through the ownership calibration (L27). Further work on the engineer road model was dropped by the user (2026-10-20).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14 projects every gas from the GHGs inventory; 14c compares the selected NDC with the scenario (comparison only, no NDC goal seek). Section 16 turns revenue into fiscal space and a GDP effect with the legacy multipliers; the GDP effect enters growth once (legacy bug L24 fixed). The methane fee counts in the fiscal space on the scenario's own activity, as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tab, scenario group 2. Gini change with recycling: -1.82%. Eleven charts on the tab. Method: Methods, chapter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Legacy's results area moved into the scenario sections, as memos or lettered sub-blocks, plus sections 17 and 18. Values from StoredOutputs (scenario 3 = the $20 carbon price of scenario 2). A negative implicit carbon price means fossil fuels are subsidised on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check_quick_report_v9.0.md: PASS. Full check check_report_v9.0.md: Overall: PASS** (sections 0-13 in the full run; section 14 rerun).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Files: CPAT-AI-Mitigation-Prototype-v9.0.xlsm (repository root), the Documentation, Legacy_CPAT_Bugs_v9.0.docx. Also open: the numerical check on the latest legacy file, 465 (U2); ETS goal seek user test (I30). Open items from issues_register.py; I52 and I53 wait for features not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CPAT-AI-Mitigation-Prototype v9.0  ·  core deck  ·  screenshots and charts from the workbook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</a:rPr>
              <a:t>OVERVIEW + USER GUIDE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CPAT-AI-Mitigation-Prototype</a:t>
            </a:r>
            <a:endParaRPr lang="en-US" sz="4000" dirty="0"/>
          </a:p>
        </p:txBody>
      </p:sp>
      <p:sp>
        <p:nvSpPr>
          <p:cNvPr id="4" name="subtitle-2"/>
          <p:cNvSpPr txBox="1"/>
          <p:nvPr/>
        </p:nvSpPr>
        <p:spPr>
          <a:xfrm>
            <a:off x="548640" y="29718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The CPAT mitigation and distribution modules as a readable Excel workbook, generated and checked by AI.</a:t>
            </a:r>
            <a:endParaRPr lang="en-US" sz="1800" dirty="0"/>
          </a:p>
        </p:txBody>
      </p:sp>
      <p:sp>
        <p:nvSpPr>
          <p:cNvPr id="5" name="chip-3"/>
          <p:cNvSpPr/>
          <p:nvPr/>
        </p:nvSpPr>
        <p:spPr>
          <a:xfrm>
            <a:off x="548640" y="4343400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chipText-4"/>
          <p:cNvSpPr txBox="1"/>
          <p:nvPr/>
        </p:nvSpPr>
        <p:spPr>
          <a:xfrm>
            <a:off x="54864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Plain formulas</a:t>
            </a:r>
            <a:endParaRPr lang="en-US" sz="1300" dirty="0"/>
          </a:p>
        </p:txBody>
      </p:sp>
      <p:sp>
        <p:nvSpPr>
          <p:cNvPr id="7" name="chip-5"/>
          <p:cNvSpPr/>
          <p:nvPr/>
        </p:nvSpPr>
        <p:spPr>
          <a:xfrm>
            <a:off x="2377440" y="434340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chipText-6"/>
          <p:cNvSpPr txBox="1"/>
          <p:nvPr/>
        </p:nvSpPr>
        <p:spPr>
          <a:xfrm>
            <a:off x="23774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Checked by Python</a:t>
            </a:r>
            <a:endParaRPr lang="en-US" sz="1300" dirty="0"/>
          </a:p>
        </p:txBody>
      </p:sp>
      <p:sp>
        <p:nvSpPr>
          <p:cNvPr id="9" name="chip-7"/>
          <p:cNvSpPr/>
          <p:nvPr/>
        </p:nvSpPr>
        <p:spPr>
          <a:xfrm>
            <a:off x="4572000" y="434340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chipText-8"/>
          <p:cNvSpPr txBox="1"/>
          <p:nvPr/>
        </p:nvSpPr>
        <p:spPr>
          <a:xfrm>
            <a:off x="457200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163 legacy bugs found</a:t>
            </a:r>
            <a:endParaRPr lang="en-US" sz="1300" dirty="0"/>
          </a:p>
        </p:txBody>
      </p:sp>
      <p:sp>
        <p:nvSpPr>
          <p:cNvPr id="11" name="footnote-9"/>
          <p:cNvSpPr txBox="1"/>
          <p:nvPr/>
        </p:nvSpPr>
        <p:spPr>
          <a:xfrm>
            <a:off x="548640" y="6217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Version 9.0, October 2026  ·  Egypt data  ·  prototype for discussion</a:t>
            </a:r>
            <a:endParaRPr lang="en-US" sz="1000" dirty="0"/>
          </a:p>
        </p:txBody>
      </p:sp>
      <p:sp>
        <p:nvSpPr>
          <p:cNvPr id="12" name="frame-10"/>
          <p:cNvSpPr/>
          <p:nvPr/>
        </p:nvSpPr>
        <p:spPr>
          <a:xfrm>
            <a:off x="7168896" y="1042416"/>
            <a:ext cx="4498848" cy="192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3" name="screenshot-11" descr="/home/user/cpat_ai/excel_ai/mitigation/presentation/img/v90_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97280"/>
            <a:ext cx="4389120" cy="1814640"/>
          </a:xfrm>
          <a:prstGeom prst="rect">
            <a:avLst/>
          </a:prstGeom>
        </p:spPr>
      </p:pic>
      <p:sp>
        <p:nvSpPr>
          <p:cNvPr id="14" name="caption-12"/>
          <p:cNvSpPr txBox="1"/>
          <p:nvPr/>
        </p:nvSpPr>
        <p:spPr>
          <a:xfrm>
            <a:off x="7223760" y="304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Mitigation tab as it opens: every section rolled 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Mitigation: substantial progress. Distribution: done.</a:t>
            </a:r>
            <a:endParaRPr lang="en-US" sz="3000" dirty="0"/>
          </a:p>
        </p:txBody>
      </p:sp>
      <p:sp>
        <p:nvSpPr>
          <p:cNvPr id="4" name="card-13"/>
          <p:cNvSpPr/>
          <p:nvPr/>
        </p:nvSpPr>
        <p:spPr>
          <a:xfrm>
            <a:off x="548640" y="1371600"/>
            <a:ext cx="3520440" cy="26974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4"/>
          <p:cNvSpPr txBox="1"/>
          <p:nvPr/>
        </p:nvSpPr>
        <p:spPr>
          <a:xfrm>
            <a:off x="7132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MITIGATION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Prices, demand by 16 sectors and 8 fuels, power, road transport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Revenues, CO2, other GHGs, GDP effects, carbon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Checked against legacy CPAT and an independent Python recomputation</a:t>
            </a:r>
            <a:endParaRPr lang="en-US" sz="1100" dirty="0"/>
          </a:p>
        </p:txBody>
      </p:sp>
      <p:sp>
        <p:nvSpPr>
          <p:cNvPr id="6" name="card-15"/>
          <p:cNvSpPr/>
          <p:nvPr/>
        </p:nvSpPr>
        <p:spPr>
          <a:xfrm>
            <a:off x="4315968" y="1371600"/>
            <a:ext cx="3520440" cy="2697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6"/>
          <p:cNvSpPr txBox="1"/>
          <p:nvPr/>
        </p:nvSpPr>
        <p:spPr>
          <a:xfrm>
            <a:off x="4480560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Household impacts as legacy, by decile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transfers, production-sector prices,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All 31 legacy distribution bugs fixed</a:t>
            </a:r>
            <a:endParaRPr lang="en-US" sz="1100" dirty="0"/>
          </a:p>
        </p:txBody>
      </p:sp>
      <p:sp>
        <p:nvSpPr>
          <p:cNvPr id="8" name="card-17"/>
          <p:cNvSpPr/>
          <p:nvPr/>
        </p:nvSpPr>
        <p:spPr>
          <a:xfrm>
            <a:off x="8092440" y="1371600"/>
            <a:ext cx="3520440" cy="2697480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9" name="cardText-18"/>
          <p:cNvSpPr txBox="1"/>
          <p:nvPr/>
        </p:nvSpPr>
        <p:spPr>
          <a:xfrm>
            <a:off x="82570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SINCE v6.3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Ships with its values: opens without recalculating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Dashboard: Live or Stored results, key table,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9 data tabs linked to the data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Codes on the CPAT code protocol (v7.2)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Every result checked again in a full check</a:t>
            </a:r>
            <a:endParaRPr lang="en-US" sz="1100" dirty="0"/>
          </a:p>
        </p:txBody>
      </p:sp>
      <p:sp>
        <p:nvSpPr>
          <p:cNvPr id="10" name="stat-19"/>
          <p:cNvSpPr txBox="1"/>
          <p:nvPr/>
        </p:nvSpPr>
        <p:spPr>
          <a:xfrm>
            <a:off x="5486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 (132 mitigation, 31 distribution), none replicated</a:t>
            </a:r>
            <a:endParaRPr lang="en-US" sz="4000" dirty="0"/>
          </a:p>
        </p:txBody>
      </p:sp>
      <p:sp>
        <p:nvSpPr>
          <p:cNvPr id="11" name="stat-20"/>
          <p:cNvSpPr txBox="1"/>
          <p:nvPr/>
        </p:nvSpPr>
        <p:spPr>
          <a:xfrm>
            <a:off x="4315968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issues (99 mitigation, 10 distribution), replicated and tracked</a:t>
            </a:r>
            <a:endParaRPr lang="en-US" sz="4000" dirty="0"/>
          </a:p>
        </p:txBody>
      </p:sp>
      <p:sp>
        <p:nvSpPr>
          <p:cNvPr id="12" name="stat-21"/>
          <p:cNvSpPr txBox="1"/>
          <p:nvPr/>
        </p:nvSpPr>
        <p:spPr>
          <a:xfrm>
            <a:off x="80924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15,082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codes, checked against an independent Python recomputation</a:t>
            </a:r>
            <a:endParaRPr lang="en-US" sz="4000" dirty="0"/>
          </a:p>
        </p:txBody>
      </p:sp>
      <p:sp>
        <p:nvSpPr>
          <p:cNvPr id="13" name="caption-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Source: CPAT-AI repo, release 9.0 and the bug and issue register (Legacy_CPAT_Bugs_v9.0.docx).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tabs follow the CPAT mitigation and distribution chain</a:t>
            </a:r>
            <a:endParaRPr lang="en-US" sz="3000" dirty="0"/>
          </a:p>
        </p:txBody>
      </p:sp>
      <p:sp>
        <p:nvSpPr>
          <p:cNvPr id="4" name="flow-23"/>
          <p:cNvSpPr/>
          <p:nvPr/>
        </p:nvSpPr>
        <p:spPr>
          <a:xfrm>
            <a:off x="54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24"/>
          <p:cNvSpPr txBox="1"/>
          <p:nvPr/>
        </p:nvSpPr>
        <p:spPr>
          <a:xfrm>
            <a:off x="54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Policies</a:t>
            </a:r>
            <a:endParaRPr lang="en-US" sz="1400" dirty="0"/>
          </a:p>
        </p:txBody>
      </p:sp>
      <p:sp>
        <p:nvSpPr>
          <p:cNvPr id="6" name="flowArrow-25"/>
          <p:cNvSpPr/>
          <p:nvPr/>
        </p:nvSpPr>
        <p:spPr>
          <a:xfrm>
            <a:off x="215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26"/>
          <p:cNvSpPr/>
          <p:nvPr/>
        </p:nvSpPr>
        <p:spPr>
          <a:xfrm>
            <a:off x="245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27"/>
          <p:cNvSpPr txBox="1"/>
          <p:nvPr/>
        </p:nvSpPr>
        <p:spPr>
          <a:xfrm>
            <a:off x="245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Prices</a:t>
            </a:r>
            <a:endParaRPr lang="en-US" sz="1400" dirty="0"/>
          </a:p>
        </p:txBody>
      </p:sp>
      <p:sp>
        <p:nvSpPr>
          <p:cNvPr id="9" name="flowArrow-28"/>
          <p:cNvSpPr/>
          <p:nvPr/>
        </p:nvSpPr>
        <p:spPr>
          <a:xfrm>
            <a:off x="405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29"/>
          <p:cNvSpPr/>
          <p:nvPr/>
        </p:nvSpPr>
        <p:spPr>
          <a:xfrm>
            <a:off x="435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30"/>
          <p:cNvSpPr txBox="1"/>
          <p:nvPr/>
        </p:nvSpPr>
        <p:spPr>
          <a:xfrm>
            <a:off x="435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Power</a:t>
            </a:r>
            <a:endParaRPr lang="en-US" sz="1400" dirty="0"/>
          </a:p>
        </p:txBody>
      </p:sp>
      <p:sp>
        <p:nvSpPr>
          <p:cNvPr id="12" name="flowArrow-31"/>
          <p:cNvSpPr/>
          <p:nvPr/>
        </p:nvSpPr>
        <p:spPr>
          <a:xfrm>
            <a:off x="596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32"/>
          <p:cNvSpPr/>
          <p:nvPr/>
        </p:nvSpPr>
        <p:spPr>
          <a:xfrm>
            <a:off x="626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33"/>
          <p:cNvSpPr txBox="1"/>
          <p:nvPr/>
        </p:nvSpPr>
        <p:spPr>
          <a:xfrm>
            <a:off x="626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5-8. Fuel use</a:t>
            </a:r>
            <a:endParaRPr lang="en-US" sz="1400" dirty="0"/>
          </a:p>
        </p:txBody>
      </p:sp>
      <p:sp>
        <p:nvSpPr>
          <p:cNvPr id="15" name="flowArrow-34"/>
          <p:cNvSpPr/>
          <p:nvPr/>
        </p:nvSpPr>
        <p:spPr>
          <a:xfrm>
            <a:off x="786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35"/>
          <p:cNvSpPr/>
          <p:nvPr/>
        </p:nvSpPr>
        <p:spPr>
          <a:xfrm>
            <a:off x="816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36"/>
          <p:cNvSpPr txBox="1"/>
          <p:nvPr/>
        </p:nvSpPr>
        <p:spPr>
          <a:xfrm>
            <a:off x="816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11-13. Energy, revenue, CO2</a:t>
            </a:r>
            <a:endParaRPr lang="en-US" sz="1400" dirty="0"/>
          </a:p>
        </p:txBody>
      </p:sp>
      <p:sp>
        <p:nvSpPr>
          <p:cNvPr id="18" name="flowArrow-37"/>
          <p:cNvSpPr/>
          <p:nvPr/>
        </p:nvSpPr>
        <p:spPr>
          <a:xfrm>
            <a:off x="977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38"/>
          <p:cNvSpPr/>
          <p:nvPr/>
        </p:nvSpPr>
        <p:spPr>
          <a:xfrm>
            <a:off x="1007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39"/>
          <p:cNvSpPr txBox="1"/>
          <p:nvPr/>
        </p:nvSpPr>
        <p:spPr>
          <a:xfrm>
            <a:off x="1007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14-18. GHGs, GDP, welfare</a:t>
            </a:r>
            <a:endParaRPr lang="en-US" sz="1400" dirty="0"/>
          </a:p>
        </p:txBody>
      </p:sp>
      <p:sp>
        <p:nvSpPr>
          <p:cNvPr id="21" name="badge-4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badgeText-41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item-42"/>
          <p:cNvSpPr txBox="1"/>
          <p:nvPr/>
        </p:nvSpPr>
        <p:spPr>
          <a:xfrm>
            <a:off x="109728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Policies and prices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Carbon tax, ETS with a cap, feebates, excises, subsidy phase-outs, producer subsidy reform, methane fee, regulations, existing carbon pricing.</a:t>
            </a:r>
            <a:endParaRPr lang="en-US" sz="1500" dirty="0"/>
          </a:p>
        </p:txBody>
      </p:sp>
      <p:sp>
        <p:nvSpPr>
          <p:cNvPr id="24" name="badge-43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5" name="badgeText-44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item-45"/>
          <p:cNvSpPr txBox="1"/>
          <p:nvPr/>
        </p:nvSpPr>
        <p:spPr>
          <a:xfrm>
            <a:off x="109728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Power and fuel use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legacy power model with its engineer options; 16 sectors × 9 fuels; an optional engineer road model.</a:t>
            </a:r>
            <a:endParaRPr lang="en-US" sz="1500" dirty="0"/>
          </a:p>
        </p:txBody>
      </p:sp>
      <p:sp>
        <p:nvSpPr>
          <p:cNvPr id="27" name="badge-46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8" name="badgeText-47"/>
          <p:cNvSpPr txBox="1"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item-48"/>
          <p:cNvSpPr txBox="1"/>
          <p:nvPr/>
        </p:nvSpPr>
        <p:spPr>
          <a:xfrm>
            <a:off x="109728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Results to 2041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Fuel use, revenue by policy, CO2, GHGs with methane, NDC comparison, GDP effects, welfare; distribution by decile.</a:t>
            </a:r>
            <a:endParaRPr lang="en-US" sz="1500" dirty="0"/>
          </a:p>
        </p:txBody>
      </p:sp>
      <p:sp>
        <p:nvSpPr>
          <p:cNvPr id="30" name="card-49"/>
          <p:cNvSpPr/>
          <p:nvPr/>
        </p:nvSpPr>
        <p:spPr>
          <a:xfrm>
            <a:off x="6492240" y="2468880"/>
            <a:ext cx="5120640" cy="324612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1" name="cardText-50"/>
          <p:cNvSpPr txBox="1"/>
          <p:nvPr/>
        </p:nvSpPr>
        <p:spPr>
          <a:xfrm>
            <a:off x="6656832" y="2578608"/>
            <a:ext cx="47914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Egypt data, 2022-2041; legacy data tabs paste 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Any number of scenarios, run by one 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Distribution tab: one year, deciles across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The model in equations; every formula listed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NOT IN SCOPE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Air-pollution co-benefits module (dropped)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Transport externalities module (dropped)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CPAT · FIXES NEEDED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 bugs found in legacy CPAT; 9 change today's results</a:t>
            </a:r>
            <a:endParaRPr lang="en-US" sz="3000" dirty="0"/>
          </a:p>
        </p:txBody>
      </p:sp>
      <p:graphicFrame>
        <p:nvGraphicFramePr>
          <p:cNvPr id="5" name="bugTable-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132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High-priority bug and its effect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Services electricity demand follows the industry multiple: the largest single power-demand error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Income factor applied twice: the GDP elasticity drifts, error growing to 2040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Other oil products priced at the 0.01 floor: their fuel use rises tenfold by 2030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Non-energy methane flat: a methane fee on farming and waste does nothing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CO2 from flaring booked as methane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Population 185 million in 2041 instead of 147 million (UN)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GDP effect added to growth every year: +0.5% compounds to about +10% of GDP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L53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Actual capacity factors never used: the studies value always applies, the override bounds never act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L87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Regulation scenarios (energy efficiency, feebates, fuel economy) have no effect: share fixed at 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tat-52"/>
          <p:cNvSpPr txBox="1"/>
          <p:nvPr/>
        </p:nvSpPr>
        <p:spPr>
          <a:xfrm>
            <a:off x="8778240" y="14173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high: wrong results in standard runs</a:t>
            </a:r>
            <a:endParaRPr lang="en-US" sz="4000" dirty="0"/>
          </a:p>
        </p:txBody>
      </p:sp>
      <p:sp>
        <p:nvSpPr>
          <p:cNvPr id="6" name="stat-53"/>
          <p:cNvSpPr txBox="1"/>
          <p:nvPr/>
        </p:nvSpPr>
        <p:spPr>
          <a:xfrm>
            <a:off x="8778240" y="28346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medium: some runs or countries, or a reported number</a:t>
            </a:r>
            <a:endParaRPr lang="en-US" sz="4000" dirty="0"/>
          </a:p>
        </p:txBody>
      </p:sp>
      <p:sp>
        <p:nvSpPr>
          <p:cNvPr id="7" name="stat-54"/>
          <p:cNvSpPr txBox="1"/>
          <p:nvPr/>
        </p:nvSpPr>
        <p:spPr>
          <a:xfrm>
            <a:off x="877824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C6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+ 31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 low (latent or reporting) + distribution</a:t>
            </a:r>
            <a:endParaRPr lang="en-US" sz="4000" dirty="0"/>
          </a:p>
        </p:txBody>
      </p:sp>
      <p:sp>
        <p:nvSpPr>
          <p:cNvPr id="8" name="caption-55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132 mitigation and 31 distribution bugs, all fixed in the prototype; also 109 legacy issues (99 mitigation, 10 distribution), replicated and tracked. Fix plans: Legacy_CPAT_Bugs_v9.0.docx. Legacy CPAT 1.0pre_465: the CPAT team marked 63 fixed (52 confirmed, 9 with caveats, 2 not fixed).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with today's Excel, four fixes</a:t>
            </a:r>
            <a:endParaRPr lang="en-US" sz="3000" dirty="0"/>
          </a:p>
        </p:txBody>
      </p:sp>
      <p:sp>
        <p:nvSpPr>
          <p:cNvPr id="4" name="colhead-56"/>
          <p:cNvSpPr txBox="1"/>
          <p:nvPr/>
        </p:nvSpPr>
        <p:spPr>
          <a:xfrm>
            <a:off x="5486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TODAY IN CPAT</a:t>
            </a:r>
            <a:endParaRPr lang="en-US" sz="1100" dirty="0"/>
          </a:p>
        </p:txBody>
      </p:sp>
      <p:sp>
        <p:nvSpPr>
          <p:cNvPr id="5" name="colhead-57"/>
          <p:cNvSpPr txBox="1"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prototype</a:t>
            </a:r>
            <a:endParaRPr lang="en-US" sz="1100" dirty="0"/>
          </a:p>
        </p:txBody>
      </p:sp>
      <p:sp>
        <p:nvSpPr>
          <p:cNvPr id="6" name="problem-58"/>
          <p:cNvSpPr/>
          <p:nvPr/>
        </p:nvSpPr>
        <p:spPr>
          <a:xfrm>
            <a:off x="548640" y="1737360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7" name="problemText-59"/>
          <p:cNvSpPr txBox="1"/>
          <p:nvPr/>
        </p:nvSpPr>
        <p:spPr>
          <a:xfrm>
            <a:off x="731520" y="173736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Hard to read: long formulas, many tabs</a:t>
            </a:r>
            <a:endParaRPr lang="en-US" sz="1600" dirty="0"/>
          </a:p>
        </p:txBody>
      </p:sp>
      <p:sp>
        <p:nvSpPr>
          <p:cNvPr id="8" name="arrow-60"/>
          <p:cNvSpPr/>
          <p:nvPr/>
        </p:nvSpPr>
        <p:spPr>
          <a:xfrm>
            <a:off x="5440680" y="2039112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9" name="fix-61"/>
          <p:cNvSpPr/>
          <p:nvPr/>
        </p:nvSpPr>
        <p:spPr>
          <a:xfrm>
            <a:off x="6126480" y="1737360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fixText-62"/>
          <p:cNvSpPr txBox="1"/>
          <p:nvPr/>
        </p:nvSpPr>
        <p:spPr>
          <a:xfrm>
            <a:off x="6309360" y="1737360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Numbered sections, rolled up; every formula at most 100 characters</a:t>
            </a:r>
            <a:endParaRPr lang="en-US" sz="1600" dirty="0"/>
          </a:p>
        </p:txBody>
      </p:sp>
      <p:sp>
        <p:nvSpPr>
          <p:cNvPr id="11" name="problem-63"/>
          <p:cNvSpPr/>
          <p:nvPr/>
        </p:nvSpPr>
        <p:spPr>
          <a:xfrm>
            <a:off x="548640" y="2852928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2" name="problemText-64"/>
          <p:cNvSpPr txBox="1"/>
          <p:nvPr/>
        </p:nvSpPr>
        <p:spPr>
          <a:xfrm>
            <a:off x="731520" y="28529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Formulas differ from row to row</a:t>
            </a:r>
            <a:endParaRPr lang="en-US" sz="1600" dirty="0"/>
          </a:p>
        </p:txBody>
      </p:sp>
      <p:sp>
        <p:nvSpPr>
          <p:cNvPr id="13" name="arrow-65"/>
          <p:cNvSpPr/>
          <p:nvPr/>
        </p:nvSpPr>
        <p:spPr>
          <a:xfrm>
            <a:off x="5440680" y="3154680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fix-66"/>
          <p:cNvSpPr/>
          <p:nvPr/>
        </p:nvSpPr>
        <p:spPr>
          <a:xfrm>
            <a:off x="6126480" y="2852928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5" name="fixText-67"/>
          <p:cNvSpPr txBox="1"/>
          <p:nvPr/>
        </p:nvSpPr>
        <p:spPr>
          <a:xfrm>
            <a:off x="6309360" y="2852928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One formula per block: copy, drag or paste it anywhere in the block</a:t>
            </a:r>
            <a:endParaRPr lang="en-US" sz="1600" dirty="0"/>
          </a:p>
        </p:txBody>
      </p:sp>
      <p:sp>
        <p:nvSpPr>
          <p:cNvPr id="16" name="problem-68"/>
          <p:cNvSpPr/>
          <p:nvPr/>
        </p:nvSpPr>
        <p:spPr>
          <a:xfrm>
            <a:off x="548640" y="3968496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7" name="problemText-69"/>
          <p:cNvSpPr txBox="1"/>
          <p:nvPr/>
        </p:nvSpPr>
        <p:spPr>
          <a:xfrm>
            <a:off x="731520" y="3968496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New scenarios are slow to build</a:t>
            </a:r>
            <a:endParaRPr lang="en-US" sz="1600" dirty="0"/>
          </a:p>
        </p:txBody>
      </p:sp>
      <p:sp>
        <p:nvSpPr>
          <p:cNvPr id="18" name="arrow-70"/>
          <p:cNvSpPr/>
          <p:nvPr/>
        </p:nvSpPr>
        <p:spPr>
          <a:xfrm>
            <a:off x="5440680" y="4270248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ix-71"/>
          <p:cNvSpPr/>
          <p:nvPr/>
        </p:nvSpPr>
        <p:spPr>
          <a:xfrm>
            <a:off x="6126480" y="3968496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0" name="fixText-72"/>
          <p:cNvSpPr txBox="1"/>
          <p:nvPr/>
        </p:nvSpPr>
        <p:spPr>
          <a:xfrm>
            <a:off x="6309360" y="3968496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Paste a scenario block, or list scenarios in ScenarioDefinition and run one macro</a:t>
            </a:r>
            <a:endParaRPr lang="en-US" sz="1600" dirty="0"/>
          </a:p>
        </p:txBody>
      </p:sp>
      <p:sp>
        <p:nvSpPr>
          <p:cNvPr id="21" name="problem-73"/>
          <p:cNvSpPr/>
          <p:nvPr/>
        </p:nvSpPr>
        <p:spPr>
          <a:xfrm>
            <a:off x="548640" y="5084064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22" name="problemText-74"/>
          <p:cNvSpPr txBox="1"/>
          <p:nvPr/>
        </p:nvSpPr>
        <p:spPr>
          <a:xfrm>
            <a:off x="731520" y="50840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Results are hard to verify</a:t>
            </a:r>
            <a:endParaRPr lang="en-US" sz="1600" dirty="0"/>
          </a:p>
        </p:txBody>
      </p:sp>
      <p:sp>
        <p:nvSpPr>
          <p:cNvPr id="23" name="arrow-75"/>
          <p:cNvSpPr/>
          <p:nvPr/>
        </p:nvSpPr>
        <p:spPr>
          <a:xfrm>
            <a:off x="5440680" y="5385816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fix-76"/>
          <p:cNvSpPr/>
          <p:nvPr/>
        </p:nvSpPr>
        <p:spPr>
          <a:xfrm>
            <a:off x="6126480" y="5084064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5" name="fixText-77"/>
          <p:cNvSpPr txBox="1"/>
          <p:nvPr/>
        </p:nvSpPr>
        <p:spPr>
          <a:xfrm>
            <a:off x="6309360" y="5084064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Every value recomputed in Python; legacy bugs found, fixed and listed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LAYOUT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across, scenarios side by side, one formula per block</a:t>
            </a:r>
            <a:endParaRPr lang="en-US" sz="3000" dirty="0"/>
          </a:p>
        </p:txBody>
      </p:sp>
      <p:sp>
        <p:nvSpPr>
          <p:cNvPr id="4" name="frame-78"/>
          <p:cNvSpPr/>
          <p:nvPr/>
        </p:nvSpPr>
        <p:spPr>
          <a:xfrm>
            <a:off x="493776" y="1316736"/>
            <a:ext cx="11173968" cy="179701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79" descr="/home/user/cpat_ai/excel_ai/mitigation/presentation/img/v90_01b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1687287"/>
          </a:xfrm>
          <a:prstGeom prst="rect">
            <a:avLst/>
          </a:prstGeom>
        </p:spPr>
      </p:pic>
      <p:sp>
        <p:nvSpPr>
          <p:cNvPr id="6" name="caption-80"/>
          <p:cNvSpPr txBox="1"/>
          <p:nvPr/>
        </p:nvSpPr>
        <p:spPr>
          <a:xfrm>
            <a:off x="548640" y="3168615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Each scenario is a block of columns: output codes, 2022 (beige), the years to 2041, a blank column.</a:t>
            </a:r>
            <a:endParaRPr lang="en-US" sz="1200" dirty="0"/>
          </a:p>
        </p:txBody>
      </p:sp>
      <p:sp>
        <p:nvSpPr>
          <p:cNvPr id="7" name="card-81"/>
          <p:cNvSpPr/>
          <p:nvPr/>
        </p:nvSpPr>
        <p:spPr>
          <a:xfrm>
            <a:off x="548640" y="3607527"/>
            <a:ext cx="352044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82"/>
          <p:cNvSpPr txBox="1"/>
          <p:nvPr/>
        </p:nvSpPr>
        <p:spPr>
          <a:xfrm>
            <a:off x="7132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Paste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Paste a block of columns to the right: it numbers itself and runs the next ScenarioDefinition column.</a:t>
            </a:r>
            <a:endParaRPr lang="en-US" sz="1500" dirty="0"/>
          </a:p>
        </p:txBody>
      </p:sp>
      <p:sp>
        <p:nvSpPr>
          <p:cNvPr id="9" name="card-83"/>
          <p:cNvSpPr/>
          <p:nvPr/>
        </p:nvSpPr>
        <p:spPr>
          <a:xfrm>
            <a:off x="4315968" y="3607527"/>
            <a:ext cx="3520440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cardText-84"/>
          <p:cNvSpPr txBox="1"/>
          <p:nvPr/>
        </p:nvSpPr>
        <p:spPr>
          <a:xfrm>
            <a:off x="4480560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</a:rPr>
              <a:t>One formula, at most 100 characters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The same formula in every row of a block; all 452,077 formulas are short.</a:t>
            </a:r>
            <a:endParaRPr lang="en-US" sz="1500" dirty="0"/>
          </a:p>
        </p:txBody>
      </p:sp>
      <p:sp>
        <p:nvSpPr>
          <p:cNvPr id="11" name="card-85"/>
          <p:cNvSpPr/>
          <p:nvPr/>
        </p:nvSpPr>
        <p:spPr>
          <a:xfrm>
            <a:off x="8092440" y="3607527"/>
            <a:ext cx="3520440" cy="1371600"/>
          </a:xfrm>
          <a:prstGeom prst="rect">
            <a:avLst/>
          </a:prstGeom>
          <a:solidFill>
            <a:srgbClr val="EEECE1"/>
          </a:solidFill>
          <a:ln w="12700">
            <a:solidFill>
              <a:srgbClr val="D9D4BC"/>
            </a:solidFill>
            <a:prstDash val="solid"/>
          </a:ln>
        </p:spPr>
      </p:sp>
      <p:sp>
        <p:nvSpPr>
          <p:cNvPr id="12" name="cardText-86"/>
          <p:cNvSpPr txBox="1"/>
          <p:nvPr/>
        </p:nvSpPr>
        <p:spPr>
          <a:xfrm>
            <a:off x="82570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0006"/>
                </a:solidFill>
              </a:rPr>
              <a:t>LAMBDAs in the live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Group 1 (baseline) holds plain formulas; group 2 (the live scenario) calls the named LAMBDAs.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MANY SCENARIOS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scenarios, run one macro, compare</a:t>
            </a:r>
            <a:endParaRPr lang="en-US" sz="3000" dirty="0"/>
          </a:p>
        </p:txBody>
      </p:sp>
      <p:sp>
        <p:nvSpPr>
          <p:cNvPr id="4" name="flow-87"/>
          <p:cNvSpPr/>
          <p:nvPr/>
        </p:nvSpPr>
        <p:spPr>
          <a:xfrm>
            <a:off x="548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flowText-88"/>
          <p:cNvSpPr txBox="1"/>
          <p:nvPr/>
        </p:nvSpPr>
        <p:spPr>
          <a:xfrm>
            <a:off x="548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Define in ScenarioDefinition</a:t>
            </a:r>
            <a:endParaRPr lang="en-US" sz="1400" dirty="0"/>
          </a:p>
        </p:txBody>
      </p:sp>
      <p:sp>
        <p:nvSpPr>
          <p:cNvPr id="6" name="flowArrow-89"/>
          <p:cNvSpPr/>
          <p:nvPr/>
        </p:nvSpPr>
        <p:spPr>
          <a:xfrm>
            <a:off x="3104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90"/>
          <p:cNvSpPr/>
          <p:nvPr/>
        </p:nvSpPr>
        <p:spPr>
          <a:xfrm>
            <a:off x="3406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flowText-91"/>
          <p:cNvSpPr txBox="1"/>
          <p:nvPr/>
        </p:nvSpPr>
        <p:spPr>
          <a:xfrm>
            <a:off x="3406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stored scenarios</a:t>
            </a:r>
            <a:endParaRPr lang="en-US" sz="1400" dirty="0"/>
          </a:p>
        </p:txBody>
      </p:sp>
      <p:sp>
        <p:nvSpPr>
          <p:cNvPr id="9" name="flowArrow-92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93"/>
          <p:cNvSpPr/>
          <p:nvPr/>
        </p:nvSpPr>
        <p:spPr>
          <a:xfrm>
            <a:off x="6263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flowText-94"/>
          <p:cNvSpPr txBox="1"/>
          <p:nvPr/>
        </p:nvSpPr>
        <p:spPr>
          <a:xfrm>
            <a:off x="6263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StoredOutputs</a:t>
            </a:r>
            <a:endParaRPr lang="en-US" sz="1400" dirty="0"/>
          </a:p>
        </p:txBody>
      </p:sp>
      <p:sp>
        <p:nvSpPr>
          <p:cNvPr id="12" name="flowArrow-95"/>
          <p:cNvSpPr/>
          <p:nvPr/>
        </p:nvSpPr>
        <p:spPr>
          <a:xfrm>
            <a:off x="8819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96"/>
          <p:cNvSpPr/>
          <p:nvPr/>
        </p:nvSpPr>
        <p:spPr>
          <a:xfrm>
            <a:off x="9121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flowText-97"/>
          <p:cNvSpPr txBox="1"/>
          <p:nvPr/>
        </p:nvSpPr>
        <p:spPr>
          <a:xfrm>
            <a:off x="9121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ScenarioCompare</a:t>
            </a:r>
            <a:endParaRPr lang="en-US" sz="1400" dirty="0"/>
          </a:p>
        </p:txBody>
      </p:sp>
      <p:sp>
        <p:nvSpPr>
          <p:cNvPr id="15" name="frame-98"/>
          <p:cNvSpPr/>
          <p:nvPr/>
        </p:nvSpPr>
        <p:spPr>
          <a:xfrm>
            <a:off x="493776" y="2322576"/>
            <a:ext cx="5596128" cy="20961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6" name="screenshot-99" descr="/home/user/cpat_ai/excel_ai/mitigation/presentation/img/v90_06_defin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1986402"/>
          </a:xfrm>
          <a:prstGeom prst="rect">
            <a:avLst/>
          </a:prstGeom>
        </p:spPr>
      </p:pic>
      <p:sp>
        <p:nvSpPr>
          <p:cNvPr id="17" name="caption-100"/>
          <p:cNvSpPr txBox="1"/>
          <p:nvPr/>
        </p:nvSpPr>
        <p:spPr>
          <a:xfrm>
            <a:off x="548640" y="44735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ScenarioDefinition: one column per scenario, short name, Run? = Yes</a:t>
            </a:r>
            <a:endParaRPr lang="en-US" sz="1200" dirty="0"/>
          </a:p>
        </p:txBody>
      </p:sp>
      <p:sp>
        <p:nvSpPr>
          <p:cNvPr id="18" name="frame-101"/>
          <p:cNvSpPr/>
          <p:nvPr/>
        </p:nvSpPr>
        <p:spPr>
          <a:xfrm>
            <a:off x="6254496" y="2322576"/>
            <a:ext cx="5413248" cy="292323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9" name="screenshot-102" descr="/home/user/cpat_ai/excel_ai/mitigation/presentation/img/v90_05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7440"/>
            <a:ext cx="5303520" cy="2813507"/>
          </a:xfrm>
          <a:prstGeom prst="rect">
            <a:avLst/>
          </a:prstGeom>
        </p:spPr>
      </p:pic>
      <p:sp>
        <p:nvSpPr>
          <p:cNvPr id="20" name="caption-103"/>
          <p:cNvSpPr txBox="1"/>
          <p:nvPr/>
        </p:nvSpPr>
        <p:spPr>
          <a:xfrm>
            <a:off x="6309360" y="530067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ScenarioCompare: key results vs the baseline (Live or Stored)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SPEED AND SIZE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recalculation time of legacy, about half the file size</a:t>
            </a:r>
            <a:endParaRPr lang="en-US" sz="3000" dirty="0"/>
          </a:p>
        </p:txBody>
      </p:sp>
      <p:sp>
        <p:nvSpPr>
          <p:cNvPr id="4" name="stat-104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recalculation after a change (legacy CPAT: about 10 s); opens with its values, no recalculation</a:t>
            </a:r>
            <a:endParaRPr lang="en-US" sz="4000" dirty="0"/>
          </a:p>
        </p:txBody>
      </p:sp>
      <p:sp>
        <p:nvSpPr>
          <p:cNvPr id="5" name="stat-105"/>
          <p:cNvSpPr txBox="1"/>
          <p:nvPr/>
        </p:nvSpPr>
        <p:spPr>
          <a:xfrm>
            <a:off x="411480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MB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binary (.xlsb) today; 12-13 MB expected with all countries and the remaining modules (legacy CPAT: over 21 MB)</a:t>
            </a:r>
            <a:endParaRPr lang="en-US" sz="4000" dirty="0"/>
          </a:p>
        </p:txBody>
      </p:sp>
      <p:sp>
        <p:nvSpPr>
          <p:cNvPr id="6" name="stat-106"/>
          <p:cNvSpPr txBox="1"/>
          <p:nvPr/>
        </p:nvSpPr>
        <p:spPr>
          <a:xfrm>
            <a:off x="768096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data tabs linked to the data workbook (local file or SharePoint)</a:t>
            </a:r>
            <a:endParaRPr lang="en-US" sz="4000" dirty="0"/>
          </a:p>
        </p:txBody>
      </p:sp>
      <p:sp>
        <p:nvSpPr>
          <p:cNvPr id="7" name="badge-10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08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item-109"/>
          <p:cNvSpPr txBox="1"/>
          <p:nvPr/>
        </p:nvSpPr>
        <p:spPr>
          <a:xfrm>
            <a:off x="109728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Recalculate now / Recalculation 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Green buttons on ScenarioCompare: a timed full recalculation, or automatic calculation for interactive work.</a:t>
            </a:r>
            <a:endParaRPr lang="en-US" sz="1500" dirty="0"/>
          </a:p>
        </p:txBody>
      </p:sp>
      <p:sp>
        <p:nvSpPr>
          <p:cNvPr id="10" name="badge-110"/>
          <p:cNvSpPr/>
          <p:nvPr/>
        </p:nvSpPr>
        <p:spPr>
          <a:xfrm>
            <a:off x="612648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11"/>
          <p:cNvSpPr txBox="1"/>
          <p:nvPr/>
        </p:nvSpPr>
        <p:spPr>
          <a:xfrm>
            <a:off x="6126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item-112"/>
          <p:cNvSpPr txBox="1"/>
          <p:nvPr/>
        </p:nvSpPr>
        <p:spPr>
          <a:xfrm>
            <a:off x="667512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Update data tables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Choose the data source on ScenarioCompare; each table is copied by column name; the status is on the Cover.</a:t>
            </a:r>
            <a:endParaRPr lang="en-US" sz="1500" dirty="0"/>
          </a:p>
        </p:txBody>
      </p:sp>
      <p:sp>
        <p:nvSpPr>
          <p:cNvPr id="13" name="card-113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cardText-114"/>
          <p:cNvSpPr txBox="1"/>
          <p:nvPr/>
        </p:nvSpPr>
        <p:spPr>
          <a:xfrm>
            <a:off x="713232" y="4681728"/>
            <a:ext cx="10735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LINKED TABS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Balances  ·  EnergyCons  ·  Prices_dom  ·  HHSurvey  ·  IO_GTAP  ·  HH_Elast  ·  WEO  ·  GDPRatios  ·  UNPop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cut CO2; the ETS price of Package B is still an estimate</a:t>
            </a:r>
            <a:endParaRPr lang="en-US" sz="3000" dirty="0"/>
          </a:p>
        </p:txBody>
      </p:sp>
      <p:graphicFrame>
        <p:nvGraphicFramePr>
          <p:cNvPr id="4" name="chart-115" descr=""/>
          <p:cNvGraphicFramePr/>
          <p:nvPr/>
        </p:nvGraphicFramePr>
        <p:xfrm>
          <a:off x="548640" y="13716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-116" descr=""/>
          <p:cNvGraphicFramePr/>
          <p:nvPr/>
        </p:nvGraphicFramePr>
        <p:xfrm>
          <a:off x="685800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-11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2030 vs baseline: $20 -12%, Package A -25%, Package B -10%. Package B ETS price 2030: 78 $/tCO2 (quick estimate).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THE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power model, its data from the legacy tabs</a:t>
            </a:r>
            <a:endParaRPr lang="en-US" sz="3000" dirty="0"/>
          </a:p>
        </p:txBody>
      </p:sp>
      <p:sp>
        <p:nvSpPr>
          <p:cNvPr id="4" name="flow-118"/>
          <p:cNvSpPr/>
          <p:nvPr/>
        </p:nvSpPr>
        <p:spPr>
          <a:xfrm>
            <a:off x="548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19"/>
          <p:cNvSpPr txBox="1"/>
          <p:nvPr/>
        </p:nvSpPr>
        <p:spPr>
          <a:xfrm>
            <a:off x="548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H. Demand</a:t>
            </a:r>
            <a:endParaRPr lang="en-US" sz="1400" dirty="0"/>
          </a:p>
        </p:txBody>
      </p:sp>
      <p:sp>
        <p:nvSpPr>
          <p:cNvPr id="6" name="flowArrow-120"/>
          <p:cNvSpPr/>
          <p:nvPr/>
        </p:nvSpPr>
        <p:spPr>
          <a:xfrm>
            <a:off x="2532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21"/>
          <p:cNvSpPr/>
          <p:nvPr/>
        </p:nvSpPr>
        <p:spPr>
          <a:xfrm>
            <a:off x="2834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22"/>
          <p:cNvSpPr txBox="1"/>
          <p:nvPr/>
        </p:nvSpPr>
        <p:spPr>
          <a:xfrm>
            <a:off x="2834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I. Dispatch</a:t>
            </a:r>
            <a:endParaRPr lang="en-US" sz="1400" dirty="0"/>
          </a:p>
        </p:txBody>
      </p:sp>
      <p:sp>
        <p:nvSpPr>
          <p:cNvPr id="9" name="flowArrow-123"/>
          <p:cNvSpPr/>
          <p:nvPr/>
        </p:nvSpPr>
        <p:spPr>
          <a:xfrm>
            <a:off x="4818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24"/>
          <p:cNvSpPr/>
          <p:nvPr/>
        </p:nvSpPr>
        <p:spPr>
          <a:xfrm>
            <a:off x="5120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25"/>
          <p:cNvSpPr txBox="1"/>
          <p:nvPr/>
        </p:nvSpPr>
        <p:spPr>
          <a:xfrm>
            <a:off x="5120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K. Capacity, retirement</a:t>
            </a:r>
            <a:endParaRPr lang="en-US" sz="1400" dirty="0"/>
          </a:p>
        </p:txBody>
      </p:sp>
      <p:sp>
        <p:nvSpPr>
          <p:cNvPr id="12" name="flowArrow-126"/>
          <p:cNvSpPr/>
          <p:nvPr/>
        </p:nvSpPr>
        <p:spPr>
          <a:xfrm>
            <a:off x="7104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27"/>
          <p:cNvSpPr/>
          <p:nvPr/>
        </p:nvSpPr>
        <p:spPr>
          <a:xfrm>
            <a:off x="7406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28"/>
          <p:cNvSpPr txBox="1"/>
          <p:nvPr/>
        </p:nvSpPr>
        <p:spPr>
          <a:xfrm>
            <a:off x="7406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L. Investment</a:t>
            </a:r>
            <a:endParaRPr lang="en-US" sz="1400" dirty="0"/>
          </a:p>
        </p:txBody>
      </p:sp>
      <p:sp>
        <p:nvSpPr>
          <p:cNvPr id="15" name="flowArrow-129"/>
          <p:cNvSpPr/>
          <p:nvPr/>
        </p:nvSpPr>
        <p:spPr>
          <a:xfrm>
            <a:off x="9390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30"/>
          <p:cNvSpPr/>
          <p:nvPr/>
        </p:nvSpPr>
        <p:spPr>
          <a:xfrm>
            <a:off x="9692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31"/>
          <p:cNvSpPr txBox="1"/>
          <p:nvPr/>
        </p:nvSpPr>
        <p:spPr>
          <a:xfrm>
            <a:off x="9692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G. Prices</a:t>
            </a:r>
            <a:endParaRPr lang="en-US" sz="1400" dirty="0"/>
          </a:p>
        </p:txBody>
      </p:sp>
      <p:graphicFrame>
        <p:nvGraphicFramePr>
          <p:cNvPr id="18" name="chart-132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card-133"/>
          <p:cNvSpPr/>
          <p:nvPr/>
        </p:nvSpPr>
        <p:spPr>
          <a:xfrm>
            <a:off x="6583680" y="2377440"/>
            <a:ext cx="5029200" cy="35204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cardText-134"/>
          <p:cNvSpPr txBox="1"/>
          <p:nvPr/>
        </p:nvSpPr>
        <p:spPr>
          <a:xfrm>
            <a:off x="6748272" y="2487168"/>
            <a:ext cx="470001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data computed from the legacy Power, CoC and GHGs tabs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bugs fixed: demand, capacity factors, hydro, WACC, sizing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demand as memo lines by sector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fuel use, revenue and CO2 in the totals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legacy power input can change by scenario</a:t>
            </a:r>
            <a:endParaRPr lang="en-US" sz="3000" dirty="0"/>
          </a:p>
        </p:txBody>
      </p:sp>
      <p:sp>
        <p:nvSpPr>
          <p:cNvPr id="4" name="card-135"/>
          <p:cNvSpPr/>
          <p:nvPr/>
        </p:nvSpPr>
        <p:spPr>
          <a:xfrm>
            <a:off x="548640" y="1371600"/>
            <a:ext cx="512064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36"/>
          <p:cNvSpPr txBox="1"/>
          <p:nvPr/>
        </p:nvSpPr>
        <p:spPr>
          <a:xfrm>
            <a:off x="713232" y="1481328"/>
            <a:ext cx="47914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ENGINEER OPTIONS,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Capacity factors, efficiency, WACC, lifetimes, scale-up and retirement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Gas capacity-factor cap; final deficit to gas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Long-term storage for high VRE shares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Manual capacity and investment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Coal implicit cost (GoalSeekCoal tab)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POWER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PPAs for coal and gas; renewable subsidies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excise, revenue rebate, price floor</a:t>
            </a:r>
            <a:endParaRPr lang="en-US" sz="1100" dirty="0"/>
          </a:p>
        </p:txBody>
      </p:sp>
      <p:sp>
        <p:nvSpPr>
          <p:cNvPr id="6" name="frame-137"/>
          <p:cNvSpPr/>
          <p:nvPr/>
        </p:nvSpPr>
        <p:spPr>
          <a:xfrm>
            <a:off x="5888736" y="1316736"/>
            <a:ext cx="5779008" cy="214644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screenshot-138" descr="/home/user/cpat_ai/excel_ai/mitigation/presentation/img/v90_03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69280" cy="2036713"/>
          </a:xfrm>
          <a:prstGeom prst="rect">
            <a:avLst/>
          </a:prstGeom>
        </p:spPr>
      </p:pic>
      <p:sp>
        <p:nvSpPr>
          <p:cNvPr id="8" name="caption-139"/>
          <p:cNvSpPr txBox="1"/>
          <p:nvPr/>
        </p:nvSpPr>
        <p:spPr>
          <a:xfrm>
            <a:off x="5943600" y="351804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Section 3, baseline: generation, VRE share, capacity, investment, prices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road model as an option, 17 legacy bugs fixed</a:t>
            </a:r>
            <a:endParaRPr lang="en-US" sz="3000" dirty="0"/>
          </a:p>
        </p:txBody>
      </p:sp>
      <p:sp>
        <p:nvSpPr>
          <p:cNvPr id="4" name="flow-140"/>
          <p:cNvSpPr/>
          <p:nvPr/>
        </p:nvSpPr>
        <p:spPr>
          <a:xfrm>
            <a:off x="54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41"/>
          <p:cNvSpPr txBox="1"/>
          <p:nvPr/>
        </p:nvSpPr>
        <p:spPr>
          <a:xfrm>
            <a:off x="54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Ownership</a:t>
            </a:r>
            <a:endParaRPr lang="en-US" sz="1400" dirty="0"/>
          </a:p>
        </p:txBody>
      </p:sp>
      <p:sp>
        <p:nvSpPr>
          <p:cNvPr id="6" name="flowArrow-142"/>
          <p:cNvSpPr/>
          <p:nvPr/>
        </p:nvSpPr>
        <p:spPr>
          <a:xfrm>
            <a:off x="215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43"/>
          <p:cNvSpPr/>
          <p:nvPr/>
        </p:nvSpPr>
        <p:spPr>
          <a:xfrm>
            <a:off x="245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44"/>
          <p:cNvSpPr txBox="1"/>
          <p:nvPr/>
        </p:nvSpPr>
        <p:spPr>
          <a:xfrm>
            <a:off x="245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</a:t>
            </a:r>
            <a:endParaRPr lang="en-US" sz="1400" dirty="0"/>
          </a:p>
        </p:txBody>
      </p:sp>
      <p:sp>
        <p:nvSpPr>
          <p:cNvPr id="9" name="flowArrow-145"/>
          <p:cNvSpPr/>
          <p:nvPr/>
        </p:nvSpPr>
        <p:spPr>
          <a:xfrm>
            <a:off x="405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46"/>
          <p:cNvSpPr/>
          <p:nvPr/>
        </p:nvSpPr>
        <p:spPr>
          <a:xfrm>
            <a:off x="435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47"/>
          <p:cNvSpPr txBox="1"/>
          <p:nvPr/>
        </p:nvSpPr>
        <p:spPr>
          <a:xfrm>
            <a:off x="435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of ownership</a:t>
            </a:r>
            <a:endParaRPr lang="en-US" sz="1400" dirty="0"/>
          </a:p>
        </p:txBody>
      </p:sp>
      <p:sp>
        <p:nvSpPr>
          <p:cNvPr id="12" name="flowArrow-148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49"/>
          <p:cNvSpPr/>
          <p:nvPr/>
        </p:nvSpPr>
        <p:spPr>
          <a:xfrm>
            <a:off x="626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50"/>
          <p:cNvSpPr txBox="1"/>
          <p:nvPr/>
        </p:nvSpPr>
        <p:spPr>
          <a:xfrm>
            <a:off x="626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 choice</a:t>
            </a:r>
            <a:endParaRPr lang="en-US" sz="1400" dirty="0"/>
          </a:p>
        </p:txBody>
      </p:sp>
      <p:sp>
        <p:nvSpPr>
          <p:cNvPr id="15" name="flowArrow-151"/>
          <p:cNvSpPr/>
          <p:nvPr/>
        </p:nvSpPr>
        <p:spPr>
          <a:xfrm>
            <a:off x="786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52"/>
          <p:cNvSpPr/>
          <p:nvPr/>
        </p:nvSpPr>
        <p:spPr>
          <a:xfrm>
            <a:off x="816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53"/>
          <p:cNvSpPr txBox="1"/>
          <p:nvPr/>
        </p:nvSpPr>
        <p:spPr>
          <a:xfrm>
            <a:off x="816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economy, distance</a:t>
            </a:r>
            <a:endParaRPr lang="en-US" sz="1400" dirty="0"/>
          </a:p>
        </p:txBody>
      </p:sp>
      <p:sp>
        <p:nvSpPr>
          <p:cNvPr id="18" name="flowArrow-154"/>
          <p:cNvSpPr/>
          <p:nvPr/>
        </p:nvSpPr>
        <p:spPr>
          <a:xfrm>
            <a:off x="977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155"/>
          <p:cNvSpPr/>
          <p:nvPr/>
        </p:nvSpPr>
        <p:spPr>
          <a:xfrm>
            <a:off x="1007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156"/>
          <p:cNvSpPr txBox="1"/>
          <p:nvPr/>
        </p:nvSpPr>
        <p:spPr>
          <a:xfrm>
            <a:off x="1007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use</a:t>
            </a:r>
            <a:endParaRPr lang="en-US" sz="1400" dirty="0"/>
          </a:p>
        </p:txBody>
      </p:sp>
      <p:graphicFrame>
        <p:nvGraphicFramePr>
          <p:cNvPr id="21" name="chart-157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card-158"/>
          <p:cNvSpPr/>
          <p:nvPr/>
        </p:nvSpPr>
        <p:spPr>
          <a:xfrm>
            <a:off x="6583680" y="2377440"/>
            <a:ext cx="502920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cardText-159"/>
          <p:cNvSpPr txBox="1"/>
          <p:nvPr/>
        </p:nvSpPr>
        <p:spPr>
          <a:xfrm>
            <a:off x="6748272" y="2487168"/>
            <a:ext cx="470001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Reproduces the cached legacy run (to 4e-14)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Fixes: ownership calibration two-sided, depreciation, buses; EV share of new cars 2035 18% -&gt; 6%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Switch TrModel per scenario (default: elasticities, as Egypt)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Feebates, distance tax, EV subsidies, purchase taxes, charging subsidies</a:t>
            </a:r>
            <a:endParaRPr lang="en-US" sz="1100" dirty="0"/>
          </a:p>
        </p:txBody>
      </p:sp>
      <p:sp>
        <p:nvSpPr>
          <p:cNvPr id="24" name="caption-160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The road bugs: Legacy CPAT bugs, section 4.2 (Legacy_CPAT_Bugs_v9.0.docx); method: Methods, chapter Transport.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GHGS, NDC AND GDP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greenhouse gases, compared with the NDC target</a:t>
            </a:r>
            <a:endParaRPr lang="en-US" sz="3000" dirty="0"/>
          </a:p>
        </p:txBody>
      </p:sp>
      <p:graphicFrame>
        <p:nvGraphicFramePr>
          <p:cNvPr id="4" name="chart-161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62"/>
          <p:cNvSpPr txBox="1"/>
          <p:nvPr/>
        </p:nvSpPr>
        <p:spPr>
          <a:xfrm>
            <a:off x="658368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of the NDC reduction achieved by Package A in 2030 (BAU target, -27%)</a:t>
            </a:r>
            <a:endParaRPr lang="en-US" sz="4000" dirty="0"/>
          </a:p>
        </p:txBody>
      </p:sp>
      <p:sp>
        <p:nvSpPr>
          <p:cNvPr id="6" name="stat-163"/>
          <p:cNvSpPr txBox="1"/>
          <p:nvPr/>
        </p:nvSpPr>
        <p:spPr>
          <a:xfrm>
            <a:off x="923544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-18%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GHGs in 2030, Package A against the baseline</a:t>
            </a:r>
            <a:endParaRPr lang="en-US" sz="4000" dirty="0"/>
          </a:p>
        </p:txBody>
      </p:sp>
      <p:sp>
        <p:nvSpPr>
          <p:cNvPr id="7" name="card-164"/>
          <p:cNvSpPr/>
          <p:nvPr/>
        </p:nvSpPr>
        <p:spPr>
          <a:xfrm>
            <a:off x="6583680" y="3063240"/>
            <a:ext cx="502920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165"/>
          <p:cNvSpPr txBox="1"/>
          <p:nvPr/>
        </p:nvSpPr>
        <p:spPr>
          <a:xfrm>
            <a:off x="6748272" y="3172968"/>
            <a:ext cx="47000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Methane by source; methane fee in revenue and in the fiscal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Producer methane follows world demand,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NDC comparison: five NDC types, conditional or not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GDP effect of the revenue use, by use and by year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by decile, and how recycling changes it</a:t>
            </a:r>
            <a:endParaRPr lang="en-US" sz="3000" dirty="0"/>
          </a:p>
        </p:txBody>
      </p:sp>
      <p:graphicFrame>
        <p:nvGraphicFramePr>
          <p:cNvPr id="4" name="chart-166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67"/>
          <p:cNvSpPr/>
          <p:nvPr/>
        </p:nvSpPr>
        <p:spPr>
          <a:xfrm>
            <a:off x="6583680" y="1371600"/>
            <a:ext cx="502920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6" name="cardText-168"/>
          <p:cNvSpPr txBox="1"/>
          <p:nvPr/>
        </p:nvSpPr>
        <p:spPr>
          <a:xfrm>
            <a:off x="6748272" y="1481328"/>
            <a:ext cx="470001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THE LEGACY CHAIN, IN ONE TAB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Direct and indirect price effects (GTAP input-output)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 recycling: tax cuts, investment, spending, transfers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transfers; compensation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Gini, Lorenz curves, urban and rural, top-20 sectors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CHECKED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distribution bugs fixed (D10-D31)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Equal to a Python reference (505 values)</a:t>
            </a:r>
            <a:endParaRPr lang="en-US" sz="1100" dirty="0"/>
          </a:p>
        </p:txBody>
      </p:sp>
      <p:sp>
        <p:nvSpPr>
          <p:cNvPr id="7" name="caption-169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Deciles across, one analysis year (ScenarioDefinition YearDistn); scenario groups as on Mitigation.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SECTIONS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Legacy's post-processing, rebuilt inside each scenario</a:t>
            </a:r>
            <a:endParaRPr lang="en-US" sz="3000" dirty="0"/>
          </a:p>
        </p:txBody>
      </p:sp>
      <p:sp>
        <p:nvSpPr>
          <p:cNvPr id="4" name="card-170"/>
          <p:cNvSpPr/>
          <p:nvPr/>
        </p:nvSpPr>
        <p:spPr>
          <a:xfrm>
            <a:off x="548640" y="1371600"/>
            <a:ext cx="6035040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171"/>
          <p:cNvSpPr txBox="1"/>
          <p:nvPr/>
        </p:nvSpPr>
        <p:spPr>
          <a:xfrm>
            <a:off x="713232" y="1481328"/>
            <a:ext cx="57058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ROWS IN EVERY SCENARIO BLOCK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2: average prices and price indices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11b, 13b, 14b: changes by fuel and sector; Kaya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12d, 12e: revenue by fuel and by policy, % of GDP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14c: NDC comparison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16, 16b: GDP effects; net energy imports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17: implicit carbon price, effective rate, coverage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18: social cost of carbon, damages avoided, welfare</a:t>
            </a:r>
            <a:endParaRPr lang="en-US" sz="1100" dirty="0"/>
          </a:p>
        </p:txBody>
      </p:sp>
      <p:sp>
        <p:nvSpPr>
          <p:cNvPr id="6" name="card-172"/>
          <p:cNvSpPr/>
          <p:nvPr/>
        </p:nvSpPr>
        <p:spPr>
          <a:xfrm>
            <a:off x="6858000" y="1371600"/>
            <a:ext cx="475488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73"/>
          <p:cNvSpPr txBox="1"/>
          <p:nvPr/>
        </p:nvSpPr>
        <p:spPr>
          <a:xfrm>
            <a:off x="7022592" y="1481328"/>
            <a:ext cx="442569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EGYPT, CARBON PRICE $20 (SCENARIO 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Coverage of energy CO2, 2030: 99.8%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Implicit carbon price of fossil fuels, 2022: -183 $/tCO2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Net energy imports, 2030: -2.8 bn USD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Climate damages avoided, 2031: 3.6 bn USD (SCC 78 $/t)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Efficiency cost, 2031: -5.1 bn USD (negative = gain)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National welfare, 2031: 10.6 bn USD</a:t>
            </a:r>
            <a:endParaRPr lang="en-US" sz="1100" dirty="0"/>
          </a:p>
        </p:txBody>
      </p:sp>
      <p:sp>
        <p:nvSpPr>
          <p:cNvPr id="8" name="caption-17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Method: Methods, chapter Macro and results. Every new row is recomputed in Python in every scenario.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checked independently</a:t>
            </a:r>
            <a:endParaRPr lang="en-US" sz="3000" dirty="0"/>
          </a:p>
        </p:txBody>
      </p:sp>
      <p:sp>
        <p:nvSpPr>
          <p:cNvPr id="4" name="stat-175"/>
          <p:cNvSpPr txBox="1"/>
          <p:nvPr/>
        </p:nvSpPr>
        <p:spPr>
          <a:xfrm>
            <a:off x="54864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error values when LibreOffice recalculates the shipped file</a:t>
            </a:r>
            <a:endParaRPr lang="en-US" sz="4000" dirty="0"/>
          </a:p>
        </p:txBody>
      </p:sp>
      <p:sp>
        <p:nvSpPr>
          <p:cNvPr id="5" name="stat-176"/>
          <p:cNvSpPr txBox="1"/>
          <p:nvPr/>
        </p:nvSpPr>
        <p:spPr>
          <a:xfrm>
            <a:off x="338328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452,077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formulas, none longer than 100 characters</a:t>
            </a:r>
            <a:endParaRPr lang="en-US" sz="4000" dirty="0"/>
          </a:p>
        </p:txBody>
      </p:sp>
      <p:sp>
        <p:nvSpPr>
          <p:cNvPr id="6" name="stat-177"/>
          <p:cNvSpPr txBox="1"/>
          <p:nvPr/>
        </p:nvSpPr>
        <p:spPr>
          <a:xfrm>
            <a:off x="621792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15,082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codes; 3615 of 13,076 changed against the last release</a:t>
            </a:r>
            <a:endParaRPr lang="en-US" sz="4000" dirty="0"/>
          </a:p>
        </p:txBody>
      </p:sp>
      <p:sp>
        <p:nvSpPr>
          <p:cNvPr id="7" name="stat-178"/>
          <p:cNvSpPr txBox="1"/>
          <p:nvPr/>
        </p:nvSpPr>
        <p:spPr>
          <a:xfrm>
            <a:off x="905256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found; none replicated in the prototype</a:t>
            </a:r>
            <a:endParaRPr lang="en-US" sz="4000" dirty="0"/>
          </a:p>
        </p:txBody>
      </p:sp>
      <p:sp>
        <p:nvSpPr>
          <p:cNvPr id="8" name="badge-17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badgeText-180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item-181"/>
          <p:cNvSpPr txBox="1"/>
          <p:nvPr/>
        </p:nvSpPr>
        <p:spPr>
          <a:xfrm>
            <a:off x="109728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Independent recomputation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Python recomputes prices, fuel use, power, revenue, emissions and distribution from the source data for the test scenarios.</a:t>
            </a:r>
            <a:endParaRPr lang="en-US" sz="1500" dirty="0"/>
          </a:p>
        </p:txBody>
      </p:sp>
      <p:sp>
        <p:nvSpPr>
          <p:cNvPr id="11" name="badge-182"/>
          <p:cNvSpPr/>
          <p:nvPr/>
        </p:nvSpPr>
        <p:spPr>
          <a:xfrm>
            <a:off x="612648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badgeText-183"/>
          <p:cNvSpPr txBox="1"/>
          <p:nvPr/>
        </p:nvSpPr>
        <p:spPr>
          <a:xfrm>
            <a:off x="61264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item-184"/>
          <p:cNvSpPr txBox="1"/>
          <p:nvPr/>
        </p:nvSpPr>
        <p:spPr>
          <a:xfrm>
            <a:off x="667512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Copy-paste and LAMBDAs tested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Pasted groups equal the stored results; the LAMBDA group equals the plain formulas of the last release.</a:t>
            </a:r>
            <a:endParaRPr lang="en-US" sz="1500" dirty="0"/>
          </a:p>
        </p:txBody>
      </p:sp>
      <p:sp>
        <p:nvSpPr>
          <p:cNvPr id="14" name="badge-185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badgeText-186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item-187"/>
          <p:cNvSpPr txBox="1"/>
          <p:nvPr/>
        </p:nvSpPr>
        <p:spPr>
          <a:xfrm>
            <a:off x="109728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Differences listed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Tab 'Version Log, About, and Diff' lists every difference with legacy CPAT and why.</a:t>
            </a:r>
            <a:endParaRPr lang="en-US" sz="1500" dirty="0"/>
          </a:p>
        </p:txBody>
      </p:sp>
      <p:sp>
        <p:nvSpPr>
          <p:cNvPr id="17" name="badge-188"/>
          <p:cNvSpPr/>
          <p:nvPr/>
        </p:nvSpPr>
        <p:spPr>
          <a:xfrm>
            <a:off x="612648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badgeText-189"/>
          <p:cNvSpPr txBox="1"/>
          <p:nvPr/>
        </p:nvSpPr>
        <p:spPr>
          <a:xfrm>
            <a:off x="61264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item-190"/>
          <p:cNvSpPr txBox="1"/>
          <p:nvPr/>
        </p:nvSpPr>
        <p:spPr>
          <a:xfrm>
            <a:off x="667512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Documented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model in equations, method notes and every formula; one register of bugs and issues.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run the check, then explore</a:t>
            </a:r>
            <a:endParaRPr lang="en-US" sz="3000" dirty="0"/>
          </a:p>
        </p:txBody>
      </p:sp>
      <p:sp>
        <p:nvSpPr>
          <p:cNvPr id="4" name="badge-191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badgeText-192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item-193"/>
          <p:cNvSpPr txBox="1"/>
          <p:nvPr/>
        </p:nvSpPr>
        <p:spPr>
          <a:xfrm>
            <a:off x="109728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Open the .xlsm and enable macros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Debug &gt; Compile VBAProject once, then First-run test: PASS.</a:t>
            </a:r>
            <a:endParaRPr lang="en-US" sz="1500" dirty="0"/>
          </a:p>
        </p:txBody>
      </p:sp>
      <p:sp>
        <p:nvSpPr>
          <p:cNvPr id="7" name="badge-194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95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item-196"/>
          <p:cNvSpPr txBox="1"/>
          <p:nvPr/>
        </p:nvSpPr>
        <p:spPr>
          <a:xfrm>
            <a:off x="1097280" y="2606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Change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Edit its ScenarioDefinition column, then click Recalculate now.</a:t>
            </a:r>
            <a:endParaRPr lang="en-US" sz="1500" dirty="0"/>
          </a:p>
        </p:txBody>
      </p:sp>
      <p:sp>
        <p:nvSpPr>
          <p:cNvPr id="10" name="badge-197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98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item-199"/>
          <p:cNvSpPr txBox="1"/>
          <p:nvPr/>
        </p:nvSpPr>
        <p:spPr>
          <a:xfrm>
            <a:off x="1097280" y="3703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Run many scenarios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Run? = Yes on the definitions, click Run stored scenarios; read the dashboard.</a:t>
            </a:r>
            <a:endParaRPr lang="en-US" sz="1500" dirty="0"/>
          </a:p>
        </p:txBody>
      </p:sp>
      <p:sp>
        <p:nvSpPr>
          <p:cNvPr id="13" name="badge-200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badgeText-201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item-202"/>
          <p:cNvSpPr txBox="1"/>
          <p:nvPr/>
        </p:nvSpPr>
        <p:spPr>
          <a:xfrm>
            <a:off x="1097280" y="4800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Read more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Cover tab, QuickStart and equations; the bugs and issues register in Word.</a:t>
            </a:r>
            <a:endParaRPr lang="en-US" sz="1500" dirty="0"/>
          </a:p>
        </p:txBody>
      </p:sp>
      <p:sp>
        <p:nvSpPr>
          <p:cNvPr id="16" name="card-203"/>
          <p:cNvSpPr/>
          <p:nvPr/>
        </p:nvSpPr>
        <p:spPr>
          <a:xfrm>
            <a:off x="7406640" y="1371600"/>
            <a:ext cx="420624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next-204"/>
          <p:cNvSpPr txBox="1"/>
          <p:nvPr/>
        </p:nvSpPr>
        <p:spPr>
          <a:xfrm>
            <a:off x="7635240" y="160020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WHAT REMAINS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Review in Excel 365: timings, macros, links (I1)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Send bugs and fix plans to the CPAT team (U4)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Align codes: Excel, Python, master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Link the other data tabs (GHGs, EF_GHG ...)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DATA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GAINS emission-factor paths (I64)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Blank VAT cells in the price data (I65)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Proprietary tables, other countries (I13)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Historical GHGs 2018-2020 (I68)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AT AI Mitigation">
  <a:themeElements>
    <a:clrScheme name="CPAT AI Mitigation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PAT AI Mit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CPAT-AI-Mitigation-Prototype v9.0: overview, status, legacy bugs and user guide</dc:title>
  <dc:subject>PptxGenJS Presentation</dc:subject>
  <dc:creator>PptxGenJS</dc:creator>
  <cp:lastModifiedBy>PptxGenJS</cp:lastModifiedBy>
  <cp:revision>1</cp:revision>
  <dcterms:created xsi:type="dcterms:W3CDTF">2026-10-29T07:05:08Z</dcterms:created>
  <dcterms:modified xsi:type="dcterms:W3CDTF">2026-10-29T07:05:08Z</dcterms:modified>
</cp:coreProperties>
</file>