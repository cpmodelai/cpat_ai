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ded CPAT" id="{090aaa81-e681-8963-3427-4e960e3521d0}">
          <p14:sldIdLst>
            <p14:sldId id="256"/>
          </p14:sldIdLst>
        </p14:section>
        <p14:section name="Summary" id="{192834fd-2e63-39ec-0908-c4c910e0d8fb}">
          <p14:sldIdLst>
            <p14:sldId id="257"/>
          </p14:sldIdLst>
        </p14:section>
        <p14:section name="What it is" id="{07f59394-0caa-2b8a-6735-47cc54ee4e63}">
          <p14:sldIdLst>
            <p14:sldId id="258"/>
          </p14:sldIdLst>
        </p14:section>
        <p14:section name="Status" id="{b43d53ef-396a-be86-f149-ecb9f262835a}">
          <p14:sldIdLst>
            <p14:sldId id="259"/>
          </p14:sldIdLst>
        </p14:section>
        <p14:section name="How it works" id="{8ba46f61-34d9-aff3-fe29-ac8dcc7bd6f1}">
          <p14:sldIdLst>
            <p14:sldId id="260"/>
            <p14:sldId id="261"/>
          </p14:sldIdLst>
        </p14:section>
        <p14:section name="Data" id="{fc4ce852-fbe1-db9c-0dcb-efa0cac63a9c}">
          <p14:sldIdLst>
            <p14:sldId id="262"/>
          </p14:sldIdLst>
        </p14:section>
        <p14:section name="Testing" id="{108ff00e-2e31-aba3-4817-1ad5a508d1e4}">
          <p14:sldIdLst>
            <p14:sldId id="263"/>
            <p14:sldId id="264"/>
          </p14:sldIdLst>
        </p14:section>
        <p14:section name="Using it" id="{aa51f125-0f3f-1cb0-0b94-5cbfdebc2e34}">
          <p14:sldIdLst>
            <p14:sldId id="265"/>
          </p14:sldIdLst>
        </p14:section>
        <p14:section name="Next" id="{cf1b72ef-a04b-40f0-aa03-d824b123b427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C667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C667A"/>
                </a:solidFill>
                <a:latin typeface="+mn-lt"/>
              </a:rPr>
              <a:t>Seconds, Egypt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1F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Before (two scenarios)</c:v>
                  </c:pt>
                  <c:pt idx="1">
                    <c:v>Baseline cached</c:v>
                  </c:pt>
                  <c:pt idx="2">
                    <c:v>Unchanged rerun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5.3</c:v>
                </c:pt>
                <c:pt idx="1">
                  <c:v>0.8</c:v>
                </c:pt>
                <c:pt idx="2">
                  <c:v>0.05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F1F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A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C667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C667A"/>
                </a:solidFill>
                <a:latin typeface="+mn-lt"/>
              </a:rPr>
              <a:t>Codes compared, all within 1e-9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Codes compared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1F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Mitigation, scenarios 1-2</c:v>
                  </c:pt>
                  <c:pt idx="1">
                    <c:v>Distribution, groups 1-2</c:v>
                  </c:pt>
                  <c:pt idx="2">
                    <c:v>Stored scenarios 1, 3-6</c:v>
                  </c:pt>
                  <c:pt idx="3">
                    <c:v>Independent recomputation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14916</c:v>
                </c:pt>
                <c:pt idx="1">
                  <c:v>1684</c:v>
                </c:pt>
                <c:pt idx="2">
                  <c:v>615</c:v>
                </c:pt>
                <c:pt idx="3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1F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Coded CPAT is the Python version of CPAT. It reproduces the Excel-AI prototypes exactly and is written to be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messages: it matches Excel-AI exactly, it is fast, it is readable, and it does not copy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772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Coded CPAT v0.9.2p0.1  ·  replicates Excel-AI 0.9.2 and Distribution 0.1.4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Coded CPAT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model of CPAT: Excel-AI number for number, readable first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0.9.2p0.1</a:t>
            </a:r>
            <a:endParaRPr lang="en-US" sz="2000" dirty="0"/>
          </a:p>
        </p:txBody>
      </p:sp>
      <p:sp>
        <p:nvSpPr>
          <p:cNvPr id="4" name="stat-1"/>
          <p:cNvSpPr txBox="1"/>
          <p:nvPr/>
        </p:nvSpPr>
        <p:spPr>
          <a:xfrm>
            <a:off x="8778240" y="15544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7,458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result codes per scenario, equal to Excel-AI</a:t>
            </a:r>
            <a:endParaRPr lang="en-US" sz="4400" dirty="0"/>
          </a:p>
        </p:txBody>
      </p:sp>
      <p:sp>
        <p:nvSpPr>
          <p:cNvPr id="5" name="stat-2"/>
          <p:cNvSpPr txBox="1"/>
          <p:nvPr/>
        </p:nvSpPr>
        <p:spPr>
          <a:xfrm>
            <a:off x="8778240" y="3200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known differences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SLIDE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two forms, the same numbers</a:t>
            </a:r>
            <a:endParaRPr lang="en-US" sz="3000" dirty="0"/>
          </a:p>
        </p:txBody>
      </p:sp>
      <p:sp>
        <p:nvSpPr>
          <p:cNvPr id="4" name="card-3"/>
          <p:cNvSpPr/>
          <p:nvPr/>
        </p:nvSpPr>
        <p:spPr>
          <a:xfrm>
            <a:off x="548640" y="1737360"/>
            <a:ext cx="5440680" cy="182880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4"/>
          <p:cNvSpPr txBox="1"/>
          <p:nvPr/>
        </p:nvSpPr>
        <p:spPr>
          <a:xfrm>
            <a:off x="731520" y="187452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</a:rPr>
              <a:t>Exact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Every result code of Egypt's scenarios equals Excel-AI 0.9.2 within 1e-9; the distribution module equals Distribution 0.1.4.</a:t>
            </a:r>
            <a:endParaRPr lang="en-US" sz="1600" dirty="0"/>
          </a:p>
        </p:txBody>
      </p:sp>
      <p:sp>
        <p:nvSpPr>
          <p:cNvPr id="6" name="card-5"/>
          <p:cNvSpPr/>
          <p:nvPr/>
        </p:nvSpPr>
        <p:spPr>
          <a:xfrm>
            <a:off x="6172200" y="1737360"/>
            <a:ext cx="544068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6"/>
          <p:cNvSpPr txBox="1"/>
          <p:nvPr/>
        </p:nvSpPr>
        <p:spPr>
          <a:xfrm>
            <a:off x="6355080" y="187452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Fast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One country and two scenarios run in under a second; a rerun computes only the scenarios that changed.</a:t>
            </a:r>
            <a:endParaRPr lang="en-US" sz="1600" dirty="0"/>
          </a:p>
        </p:txBody>
      </p:sp>
      <p:sp>
        <p:nvSpPr>
          <p:cNvPr id="8" name="card-7"/>
          <p:cNvSpPr/>
          <p:nvPr/>
        </p:nvSpPr>
        <p:spPr>
          <a:xfrm>
            <a:off x="548640" y="3931920"/>
            <a:ext cx="5440680" cy="182880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cardText-8"/>
          <p:cNvSpPr txBox="1"/>
          <p:nvPr/>
        </p:nvSpPr>
        <p:spPr>
          <a:xfrm>
            <a:off x="731520" y="406908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8A1E"/>
                </a:solidFill>
              </a:rPr>
              <a:t>Readable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One small function per equation (91 equations), named with the codes of the Excel models; a documentation book on the website.</a:t>
            </a:r>
            <a:endParaRPr lang="en-US" sz="1600" dirty="0"/>
          </a:p>
        </p:txBody>
      </p:sp>
      <p:sp>
        <p:nvSpPr>
          <p:cNvPr id="10" name="card-9"/>
          <p:cNvSpPr/>
          <p:nvPr/>
        </p:nvSpPr>
        <p:spPr>
          <a:xfrm>
            <a:off x="6172200" y="3931920"/>
            <a:ext cx="5440680" cy="18288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cardText-10"/>
          <p:cNvSpPr txBox="1"/>
          <p:nvPr/>
        </p:nvSpPr>
        <p:spPr>
          <a:xfrm>
            <a:off x="6355080" y="406908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</a:rPr>
              <a:t>Honest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Excel-AI's bugs are not copied: eight found by the replication were fixed in the prototype and in Python.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Excel-AI is the specification; Coded CPAT is its Python twin</a:t>
            </a:r>
            <a:endParaRPr lang="en-US" sz="3000" dirty="0"/>
          </a:p>
        </p:txBody>
      </p:sp>
      <p:sp>
        <p:nvSpPr>
          <p:cNvPr id="4" name="step-11"/>
          <p:cNvSpPr/>
          <p:nvPr/>
        </p:nvSpPr>
        <p:spPr>
          <a:xfrm>
            <a:off x="548640" y="17373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tepText-12"/>
          <p:cNvSpPr txBox="1"/>
          <p:nvPr/>
        </p:nvSpPr>
        <p:spPr>
          <a:xfrm>
            <a:off x="640080" y="1810512"/>
            <a:ext cx="3291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Excel-AI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prototypes: mitigation and distribution</a:t>
            </a:r>
            <a:endParaRPr lang="en-US" sz="1500" dirty="0"/>
          </a:p>
        </p:txBody>
      </p:sp>
      <p:sp>
        <p:nvSpPr>
          <p:cNvPr id="6" name="arrow-13"/>
          <p:cNvSpPr/>
          <p:nvPr/>
        </p:nvSpPr>
        <p:spPr>
          <a:xfrm rot="5400000">
            <a:off x="4096512" y="225856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step-14"/>
          <p:cNvSpPr/>
          <p:nvPr/>
        </p:nvSpPr>
        <p:spPr>
          <a:xfrm>
            <a:off x="4343400" y="17373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stepText-15"/>
          <p:cNvSpPr txBox="1"/>
          <p:nvPr/>
        </p:nvSpPr>
        <p:spPr>
          <a:xfrm>
            <a:off x="4434840" y="1810512"/>
            <a:ext cx="3291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Coded CPAT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same rows, codes and equations in Python</a:t>
            </a:r>
            <a:endParaRPr lang="en-US" sz="1500" dirty="0"/>
          </a:p>
        </p:txBody>
      </p:sp>
      <p:sp>
        <p:nvSpPr>
          <p:cNvPr id="9" name="arrow-16"/>
          <p:cNvSpPr/>
          <p:nvPr/>
        </p:nvSpPr>
        <p:spPr>
          <a:xfrm rot="5400000">
            <a:off x="7891272" y="225856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" name="step-17"/>
          <p:cNvSpPr/>
          <p:nvPr/>
        </p:nvSpPr>
        <p:spPr>
          <a:xfrm>
            <a:off x="8138160" y="17373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1" name="stepText-18"/>
          <p:cNvSpPr txBox="1"/>
          <p:nvPr/>
        </p:nvSpPr>
        <p:spPr>
          <a:xfrm>
            <a:off x="8229600" y="1810512"/>
            <a:ext cx="3291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it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command line, Python, Shiny app</a:t>
            </a:r>
            <a:endParaRPr lang="en-US" sz="1500" dirty="0"/>
          </a:p>
        </p:txBody>
      </p:sp>
      <p:sp>
        <p:nvSpPr>
          <p:cNvPr id="12" name="card-19"/>
          <p:cNvSpPr/>
          <p:nvPr/>
        </p:nvSpPr>
        <p:spPr>
          <a:xfrm>
            <a:off x="548640" y="3429000"/>
            <a:ext cx="544068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cardText-20"/>
          <p:cNvSpPr txBox="1"/>
          <p:nvPr/>
        </p:nvSpPr>
        <p:spPr>
          <a:xfrm>
            <a:off x="731520" y="356616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What it computes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Energy prices, power, fuel use, emissions, revenues, GDP effects, welfare and efficient prices for 2022-2041, and the effect on households by decile, for any scenario set of Excel-AI's inputs.</a:t>
            </a:r>
            <a:endParaRPr lang="en-US" sz="1600" dirty="0"/>
          </a:p>
        </p:txBody>
      </p:sp>
      <p:sp>
        <p:nvSpPr>
          <p:cNvPr id="14" name="card-21"/>
          <p:cNvSpPr/>
          <p:nvPr/>
        </p:nvSpPr>
        <p:spPr>
          <a:xfrm>
            <a:off x="6172200" y="3429000"/>
            <a:ext cx="544068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5" name="cardText-22"/>
          <p:cNvSpPr txBox="1"/>
          <p:nvPr/>
        </p:nvSpPr>
        <p:spPr>
          <a:xfrm>
            <a:off x="6355080" y="356616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How it stays equal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Every Excel-AI row has an output code. The tests compare Python with the workbooks code by code and year by year; a block is done only when all its codes match.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checked against Excel-AI</a:t>
            </a:r>
            <a:endParaRPr lang="en-US" sz="3000" dirty="0"/>
          </a:p>
        </p:txBody>
      </p:sp>
      <p:sp>
        <p:nvSpPr>
          <p:cNvPr id="4" name="stat-23"/>
          <p:cNvSpPr txBox="1"/>
          <p:nvPr/>
        </p:nvSpPr>
        <p:spPr>
          <a:xfrm>
            <a:off x="548640" y="1645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7,458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mitigation result codes per scenario, scenarios 1-2</a:t>
            </a:r>
            <a:endParaRPr lang="en-US" sz="4400" dirty="0"/>
          </a:p>
        </p:txBody>
      </p:sp>
      <p:sp>
        <p:nvSpPr>
          <p:cNvPr id="5" name="stat-24"/>
          <p:cNvSpPr txBox="1"/>
          <p:nvPr/>
        </p:nvSpPr>
        <p:spPr>
          <a:xfrm>
            <a:off x="4297680" y="1645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1,684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distribution codes: basket and ten deciles</a:t>
            </a:r>
            <a:endParaRPr lang="en-US" sz="4400" dirty="0"/>
          </a:p>
        </p:txBody>
      </p:sp>
      <p:sp>
        <p:nvSpPr>
          <p:cNvPr id="6" name="stat-25"/>
          <p:cNvSpPr txBox="1"/>
          <p:nvPr/>
        </p:nvSpPr>
        <p:spPr>
          <a:xfrm>
            <a:off x="8046720" y="1645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615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key codes of the stored scenarios 1 and 3-6</a:t>
            </a:r>
            <a:endParaRPr lang="en-US" sz="4400" dirty="0"/>
          </a:p>
        </p:txBody>
      </p:sp>
      <p:sp>
        <p:nvSpPr>
          <p:cNvPr id="7" name="stat-26"/>
          <p:cNvSpPr txBox="1"/>
          <p:nvPr/>
        </p:nvSpPr>
        <p:spPr>
          <a:xfrm>
            <a:off x="548640" y="3931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tests passing, 0 failing</a:t>
            </a:r>
            <a:endParaRPr lang="en-US" sz="4400" dirty="0"/>
          </a:p>
        </p:txBody>
      </p:sp>
      <p:sp>
        <p:nvSpPr>
          <p:cNvPr id="8" name="stat-27"/>
          <p:cNvSpPr txBox="1"/>
          <p:nvPr/>
        </p:nvSpPr>
        <p:spPr>
          <a:xfrm>
            <a:off x="4297680" y="3931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equations, each with its function</a:t>
            </a:r>
            <a:endParaRPr lang="en-US" sz="4400" dirty="0"/>
          </a:p>
        </p:txBody>
      </p:sp>
      <p:sp>
        <p:nvSpPr>
          <p:cNvPr id="9" name="stat-28"/>
          <p:cNvSpPr txBox="1"/>
          <p:nvPr/>
        </p:nvSpPr>
        <p:spPr>
          <a:xfrm>
            <a:off x="8046720" y="3931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1e-9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tolerance: relative above 1, absolute below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RUN WORKS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first, then each scenario, in three stages</a:t>
            </a:r>
            <a:endParaRPr lang="en-US" sz="3000" dirty="0"/>
          </a:p>
        </p:txBody>
      </p:sp>
      <p:sp>
        <p:nvSpPr>
          <p:cNvPr id="4" name="step-29"/>
          <p:cNvSpPr/>
          <p:nvPr/>
        </p:nvSpPr>
        <p:spPr>
          <a:xfrm>
            <a:off x="54864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tepText-30"/>
          <p:cNvSpPr txBox="1"/>
          <p:nvPr/>
        </p:nvSpPr>
        <p:spPr>
          <a:xfrm>
            <a:off x="64008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Scenario set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inputs by name, baseline first</a:t>
            </a:r>
            <a:endParaRPr lang="en-US" sz="1500" dirty="0"/>
          </a:p>
        </p:txBody>
      </p:sp>
      <p:sp>
        <p:nvSpPr>
          <p:cNvPr id="6" name="arrow-31"/>
          <p:cNvSpPr/>
          <p:nvPr/>
        </p:nvSpPr>
        <p:spPr>
          <a:xfrm rot="5400000">
            <a:off x="2199132" y="230428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step-32"/>
          <p:cNvSpPr/>
          <p:nvPr/>
        </p:nvSpPr>
        <p:spPr>
          <a:xfrm>
            <a:off x="244602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stepText-33"/>
          <p:cNvSpPr txBox="1"/>
          <p:nvPr/>
        </p:nvSpPr>
        <p:spPr>
          <a:xfrm>
            <a:off x="253746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Prepare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all years: prices, policies, costs</a:t>
            </a:r>
            <a:endParaRPr lang="en-US" sz="1500" dirty="0"/>
          </a:p>
        </p:txBody>
      </p:sp>
      <p:sp>
        <p:nvSpPr>
          <p:cNvPr id="9" name="arrow-34"/>
          <p:cNvSpPr/>
          <p:nvPr/>
        </p:nvSpPr>
        <p:spPr>
          <a:xfrm rot="5400000">
            <a:off x="4096512" y="230428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" name="step-35"/>
          <p:cNvSpPr/>
          <p:nvPr/>
        </p:nvSpPr>
        <p:spPr>
          <a:xfrm>
            <a:off x="434340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stepText-36"/>
          <p:cNvSpPr txBox="1"/>
          <p:nvPr/>
        </p:nvSpPr>
        <p:spPr>
          <a:xfrm>
            <a:off x="443484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Year loop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2022-2041: power, fuel use, emissions, GDP</a:t>
            </a:r>
            <a:endParaRPr lang="en-US" sz="1500" dirty="0"/>
          </a:p>
        </p:txBody>
      </p:sp>
      <p:sp>
        <p:nvSpPr>
          <p:cNvPr id="12" name="arrow-37"/>
          <p:cNvSpPr/>
          <p:nvPr/>
        </p:nvSpPr>
        <p:spPr>
          <a:xfrm rot="5400000">
            <a:off x="5993892" y="230428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step-38"/>
          <p:cNvSpPr/>
          <p:nvPr/>
        </p:nvSpPr>
        <p:spPr>
          <a:xfrm>
            <a:off x="624078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stepText-39"/>
          <p:cNvSpPr txBox="1"/>
          <p:nvPr/>
        </p:nvSpPr>
        <p:spPr>
          <a:xfrm>
            <a:off x="633222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Finish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all-year rows (NDC)</a:t>
            </a:r>
            <a:endParaRPr lang="en-US" sz="1500" dirty="0"/>
          </a:p>
        </p:txBody>
      </p:sp>
      <p:sp>
        <p:nvSpPr>
          <p:cNvPr id="15" name="arrow-40"/>
          <p:cNvSpPr/>
          <p:nvPr/>
        </p:nvSpPr>
        <p:spPr>
          <a:xfrm rot="5400000">
            <a:off x="7891272" y="230428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6" name="step-41"/>
          <p:cNvSpPr/>
          <p:nvPr/>
        </p:nvSpPr>
        <p:spPr>
          <a:xfrm>
            <a:off x="813816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stepText-42"/>
          <p:cNvSpPr txBox="1"/>
          <p:nvPr/>
        </p:nvSpPr>
        <p:spPr>
          <a:xfrm>
            <a:off x="822960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Distribution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households by decile</a:t>
            </a:r>
            <a:endParaRPr lang="en-US" sz="1500" dirty="0"/>
          </a:p>
        </p:txBody>
      </p:sp>
      <p:sp>
        <p:nvSpPr>
          <p:cNvPr id="18" name="arrow-43"/>
          <p:cNvSpPr/>
          <p:nvPr/>
        </p:nvSpPr>
        <p:spPr>
          <a:xfrm rot="5400000">
            <a:off x="9788652" y="2304288"/>
            <a:ext cx="182880" cy="237744"/>
          </a:xfrm>
          <a:prstGeom prst="rtTriangle">
            <a:avLst/>
          </a:prstGeom>
          <a:solidFill>
            <a:srgbClr val="D5DAE3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9" name="step-44"/>
          <p:cNvSpPr/>
          <p:nvPr/>
        </p:nvSpPr>
        <p:spPr>
          <a:xfrm>
            <a:off x="10035540" y="1737360"/>
            <a:ext cx="15773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tepText-45"/>
          <p:cNvSpPr txBox="1"/>
          <p:nvPr/>
        </p:nvSpPr>
        <p:spPr>
          <a:xfrm>
            <a:off x="10126980" y="1810512"/>
            <a:ext cx="13944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by output code</a:t>
            </a:r>
            <a:endParaRPr lang="en-US" sz="1500" dirty="0"/>
          </a:p>
        </p:txBody>
      </p:sp>
      <p:sp>
        <p:nvSpPr>
          <p:cNvPr id="21" name="card-46"/>
          <p:cNvSpPr/>
          <p:nvPr/>
        </p:nvSpPr>
        <p:spPr>
          <a:xfrm>
            <a:off x="548640" y="3520440"/>
            <a:ext cx="11064240" cy="17373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cardText-47"/>
          <p:cNvSpPr txBox="1"/>
          <p:nvPr/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Why it is fast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Block rows stay numpy arrays and become labelled arrays only when read from outside. The baseline run, the data steps and every scenario already run are cached, so a rerun computes only what changed: 5.3 s before the speed work, 0.8 s with the baseline cached, under 0.1 s for an unchanged rerun.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5 seconds to under one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48"/>
          <p:cNvSpPr/>
          <p:nvPr/>
        </p:nvSpPr>
        <p:spPr>
          <a:xfrm>
            <a:off x="7589520" y="1463040"/>
            <a:ext cx="4023360" cy="251460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cardText-49"/>
          <p:cNvSpPr txBox="1"/>
          <p:nvPr/>
        </p:nvSpPr>
        <p:spPr>
          <a:xfrm>
            <a:off x="7772400" y="160020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</a:rPr>
              <a:t>The target was one second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Plan task 5.4: one country and two scenarios in under a second (D11). Met with the baseline and the data cached.</a:t>
            </a:r>
            <a:endParaRPr lang="en-US" sz="1600" dirty="0"/>
          </a:p>
        </p:txBody>
      </p:sp>
      <p:sp>
        <p:nvSpPr>
          <p:cNvPr id="7" name="card-50"/>
          <p:cNvSpPr/>
          <p:nvPr/>
        </p:nvSpPr>
        <p:spPr>
          <a:xfrm>
            <a:off x="7589520" y="4160520"/>
            <a:ext cx="402336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51"/>
          <p:cNvSpPr txBox="1"/>
          <p:nvPr/>
        </p:nvSpPr>
        <p:spPr>
          <a:xfrm>
            <a:off x="7772400" y="429768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Checked by a test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test_speed.py: a cached run equals a fresh one exactly and takes under 2 s (a loose bound for slower machines).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Tidy CSV, one table per file, the same numbers as Excel-AI</a:t>
            </a:r>
            <a:endParaRPr lang="en-US" sz="3000" dirty="0"/>
          </a:p>
        </p:txBody>
      </p:sp>
      <p:sp>
        <p:nvSpPr>
          <p:cNvPr id="4" name="stat-52"/>
          <p:cNvSpPr txBox="1"/>
          <p:nvPr/>
        </p:nvSpPr>
        <p:spPr>
          <a:xfrm>
            <a:off x="548640" y="16459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tables in data/tidy/ (the dummy database)</a:t>
            </a:r>
            <a:endParaRPr lang="en-US" sz="4400" dirty="0"/>
          </a:p>
        </p:txBody>
      </p:sp>
      <p:sp>
        <p:nvSpPr>
          <p:cNvPr id="5" name="stat-53"/>
          <p:cNvSpPr txBox="1"/>
          <p:nvPr/>
        </p:nvSpPr>
        <p:spPr>
          <a:xfrm>
            <a:off x="548640" y="38404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proprietary tables: never committed</a:t>
            </a:r>
            <a:endParaRPr lang="en-US" sz="4400" dirty="0"/>
          </a:p>
        </p:txBody>
      </p:sp>
      <p:sp>
        <p:nvSpPr>
          <p:cNvPr id="6" name="card-54"/>
          <p:cNvSpPr/>
          <p:nvPr/>
        </p:nvSpPr>
        <p:spPr>
          <a:xfrm>
            <a:off x="4114800" y="1645920"/>
            <a:ext cx="7498080" cy="20116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55"/>
          <p:cNvSpPr txBox="1"/>
          <p:nvPr/>
        </p:nvSpPr>
        <p:spPr>
          <a:xfrm>
            <a:off x="4297680" y="17830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Format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Long tables: keys first (country ISO3, year, codes), then the value. A converter turns them into Excel-AI's legacy layout and back, exactly, so both models read the same numbers.</a:t>
            </a:r>
            <a:endParaRPr lang="en-US" sz="1600" dirty="0"/>
          </a:p>
        </p:txBody>
      </p:sp>
      <p:sp>
        <p:nvSpPr>
          <p:cNvPr id="8" name="card-56"/>
          <p:cNvSpPr/>
          <p:nvPr/>
        </p:nvSpPr>
        <p:spPr>
          <a:xfrm>
            <a:off x="4114800" y="3840480"/>
            <a:ext cx="7498080" cy="2194560"/>
          </a:xfrm>
          <a:prstGeom prst="rect">
            <a:avLst/>
          </a:prstGeom>
          <a:solidFill>
            <a:srgbClr val="FDF3E6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cardText-57"/>
          <p:cNvSpPr txBox="1"/>
          <p:nvPr/>
        </p:nvSpPr>
        <p:spPr>
          <a:xfrm>
            <a:off x="4297680" y="397764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8A1E"/>
                </a:solidFill>
              </a:rPr>
              <a:t>Where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Dummy: data/tidy/ in the repository (Egypt has its base tables). Full: every country, in a private repository; set FULL_DATA_PATH and run with database 'full'. A country without its base tables stops with a clear message.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comparisons, all passing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58"/>
          <p:cNvSpPr/>
          <p:nvPr/>
        </p:nvSpPr>
        <p:spPr>
          <a:xfrm>
            <a:off x="7589520" y="1463040"/>
            <a:ext cx="4023360" cy="4663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cardText-59"/>
          <p:cNvSpPr txBox="1"/>
          <p:nvPr/>
        </p:nvSpPr>
        <p:spPr>
          <a:xfrm>
            <a:off x="7772400" y="160020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How to run them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pytest from coded/ (about a minute) before every commit. The documentation book shows the last test status, regenerated from the tests. Legacy CPAT: the Egypt baseline is compared with legacy's cached run; the gaps are Excel-AI's documented fixes and newer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BY THE REPLICATION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it twice found eight bugs in the prototype</a:t>
            </a:r>
            <a:endParaRPr lang="en-US" sz="3000" dirty="0"/>
          </a:p>
        </p:txBody>
      </p:sp>
      <p:graphicFrame>
        <p:nvGraphicFramePr>
          <p:cNvPr id="10" name="bugs-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57200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VAT on efficient prices at the 2022 rate in every year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M16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Freight BEV feebate at the ICEV truck's distance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M17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Plug-in hybrid cost mixed two price bases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M18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Bus electricity scaled by every fuel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Withdrawn: as legacy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M19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Nominal GDP divided by a billion twice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M20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LNG and European gas prices swapped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M21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Methane fee: division by zero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(0.9.2)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M22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Distribution: a % added to amounts in LCU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2E"/>
                          </a:solidFill>
                        </a:rPr>
                        <a:t>Fixed (Distribution 0.1.4)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card-61"/>
          <p:cNvSpPr/>
          <p:nvPr/>
        </p:nvSpPr>
        <p:spPr>
          <a:xfrm>
            <a:off x="8321040" y="1463040"/>
            <a:ext cx="3291840" cy="411480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cardText-62"/>
          <p:cNvSpPr txBox="1"/>
          <p:nvPr/>
        </p:nvSpPr>
        <p:spPr>
          <a:xfrm>
            <a:off x="8503920" y="1600200"/>
            <a:ext cx="2926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7B6C"/>
                </a:solidFill>
              </a:rPr>
              <a:t>The rule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Bugs are never copied into Python; issues (potential improvements) are logged and copied for now. Each bug is registered, fixed in the prototype, and Python follows.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IN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line, Python, app, documentation</a:t>
            </a:r>
            <a:endParaRPr lang="en-US" sz="3000" dirty="0"/>
          </a:p>
        </p:txBody>
      </p:sp>
      <p:sp>
        <p:nvSpPr>
          <p:cNvPr id="4" name="card-63"/>
          <p:cNvSpPr/>
          <p:nvPr/>
        </p:nvSpPr>
        <p:spPr>
          <a:xfrm>
            <a:off x="548640" y="1645920"/>
            <a:ext cx="544068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64"/>
          <p:cNvSpPr txBox="1"/>
          <p:nvPr/>
        </p:nvSpPr>
        <p:spPr>
          <a:xfrm>
            <a:off x="731520" y="178308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badge-6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badgeText-66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way-67"/>
          <p:cNvSpPr txBox="1"/>
          <p:nvPr/>
        </p:nvSpPr>
        <p:spPr>
          <a:xfrm>
            <a:off x="1417320" y="18745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Command 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python run_model.py: a scenario-set file in, results by country out (CSV, workbook)</a:t>
            </a:r>
            <a:endParaRPr lang="en-US" sz="1600" dirty="0"/>
          </a:p>
        </p:txBody>
      </p:sp>
      <p:sp>
        <p:nvSpPr>
          <p:cNvPr id="9" name="card-68"/>
          <p:cNvSpPr/>
          <p:nvPr/>
        </p:nvSpPr>
        <p:spPr>
          <a:xfrm>
            <a:off x="6172200" y="1645920"/>
            <a:ext cx="544068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" name="cardText-69"/>
          <p:cNvSpPr txBox="1"/>
          <p:nvPr/>
        </p:nvSpPr>
        <p:spPr>
          <a:xfrm>
            <a:off x="6355080" y="178308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badge-70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71"/>
          <p:cNvSpPr txBox="1"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way-72"/>
          <p:cNvSpPr txBox="1"/>
          <p:nvPr/>
        </p:nvSpPr>
        <p:spPr>
          <a:xfrm>
            <a:off x="7040880" y="18745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Python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cpat_model.run(scenarios): Results by output code; the distribution by decile</a:t>
            </a:r>
            <a:endParaRPr lang="en-US" sz="1600" dirty="0"/>
          </a:p>
        </p:txBody>
      </p:sp>
      <p:sp>
        <p:nvSpPr>
          <p:cNvPr id="14" name="card-73"/>
          <p:cNvSpPr/>
          <p:nvPr/>
        </p:nvSpPr>
        <p:spPr>
          <a:xfrm>
            <a:off x="548640" y="3886200"/>
            <a:ext cx="544068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5" name="cardText-74"/>
          <p:cNvSpPr txBox="1"/>
          <p:nvPr/>
        </p:nvSpPr>
        <p:spPr>
          <a:xfrm>
            <a:off x="731520" y="402336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badge-75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badgeText-76"/>
          <p:cNvSpPr txBox="1"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way-77"/>
          <p:cNvSpPr txBox="1"/>
          <p:nvPr/>
        </p:nvSpPr>
        <p:spPr>
          <a:xfrm>
            <a:off x="1417320" y="41148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Shiny 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shiny run app.py: build carbon-tax scenarios, run, tables and six graphs</a:t>
            </a:r>
            <a:endParaRPr lang="en-US" sz="1600" dirty="0"/>
          </a:p>
        </p:txBody>
      </p:sp>
      <p:sp>
        <p:nvSpPr>
          <p:cNvPr id="19" name="card-78"/>
          <p:cNvSpPr/>
          <p:nvPr/>
        </p:nvSpPr>
        <p:spPr>
          <a:xfrm>
            <a:off x="6172200" y="3886200"/>
            <a:ext cx="5440680" cy="196596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79"/>
          <p:cNvSpPr txBox="1"/>
          <p:nvPr/>
        </p:nvSpPr>
        <p:spPr>
          <a:xfrm>
            <a:off x="6355080" y="402336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badge-80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badgeText-81"/>
          <p:cNvSpPr txBox="1"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way-82"/>
          <p:cNvSpPr txBox="1"/>
          <p:nvPr/>
        </p:nvSpPr>
        <p:spPr>
          <a:xfrm>
            <a:off x="7040880" y="411480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2E"/>
                </a:solidFill>
              </a:rPr>
              <a:t>Website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</a:rPr>
              <a:t>the Coded CPAT tab: what you need to know first, every reference in appendices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on the full database (private)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465 and every country, through the register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demand forms (ModelForm) in Excel-AI and Python together</a:t>
            </a:r>
            <a:endParaRPr lang="en-US" sz="2000" dirty="0"/>
          </a:p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air-pollution and transport co-benefits modules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d CPAT">
  <a:themeElements>
    <a:clrScheme name="Coded CPAT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oded CPA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Coded CPAT v0.9.2p0.1: overview</dc:title>
  <dc:subject>PptxGenJS Presentation</dc:subject>
  <dc:creator>PptxGenJS</dc:creator>
  <cp:lastModifiedBy>PptxGenJS</cp:lastModifiedBy>
  <cp:revision>1</cp:revision>
  <dcterms:created xsi:type="dcterms:W3CDTF">2026-10-29T15:18:00Z</dcterms:created>
  <dcterms:modified xsi:type="dcterms:W3CDTF">2026-10-29T15:18:00Z</dcterms:modified>
</cp:coreProperties>
</file>